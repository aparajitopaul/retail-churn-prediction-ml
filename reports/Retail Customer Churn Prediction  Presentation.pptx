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Liter" panose="020B0604020202020204" charset="0"/>
      <p:regular r:id="rId15"/>
    </p:embeddedFont>
    <p:embeddedFont>
      <p:font typeface="Quattrocento Sans" panose="020F0502020204030204" pitchFamily="3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086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ng.pngtree.com/d2e1636ff51efc089120319a49aa728c6bf81e34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5556" r="555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6C82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912019"/>
            <a:ext cx="2400300" cy="428625"/>
          </a:xfrm>
          <a:custGeom>
            <a:avLst/>
            <a:gdLst/>
            <a:ahLst/>
            <a:cxnLst/>
            <a:rect l="l" t="t" r="r" b="b"/>
            <a:pathLst>
              <a:path w="2400300" h="428625">
                <a:moveTo>
                  <a:pt x="76201" y="0"/>
                </a:moveTo>
                <a:lnTo>
                  <a:pt x="2324099" y="0"/>
                </a:lnTo>
                <a:cubicBezTo>
                  <a:pt x="2366184" y="0"/>
                  <a:pt x="2400300" y="34116"/>
                  <a:pt x="2400300" y="76201"/>
                </a:cubicBezTo>
                <a:lnTo>
                  <a:pt x="2400300" y="352424"/>
                </a:lnTo>
                <a:cubicBezTo>
                  <a:pt x="2400300" y="394509"/>
                  <a:pt x="2366184" y="428625"/>
                  <a:pt x="2324099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1031081"/>
            <a:ext cx="20944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68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SCIENCE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650206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Retail Customer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Churn Prediction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593306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0" scaled="1"/>
          </a:gradFill>
          <a:ln/>
        </p:spPr>
      </p:sp>
      <p:sp>
        <p:nvSpPr>
          <p:cNvPr id="8" name="Text 5"/>
          <p:cNvSpPr/>
          <p:nvPr/>
        </p:nvSpPr>
        <p:spPr>
          <a:xfrm>
            <a:off x="381000" y="3936206"/>
            <a:ext cx="115728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Time-Based ML Modeling with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Optimization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5763" y="5395913"/>
            <a:ext cx="3648075" cy="1076325"/>
          </a:xfrm>
          <a:custGeom>
            <a:avLst/>
            <a:gdLst/>
            <a:ahLst/>
            <a:cxnLst/>
            <a:rect l="l" t="t" r="r" b="b"/>
            <a:pathLst>
              <a:path w="3648075" h="1076325">
                <a:moveTo>
                  <a:pt x="114295" y="0"/>
                </a:moveTo>
                <a:lnTo>
                  <a:pt x="3533780" y="0"/>
                </a:lnTo>
                <a:cubicBezTo>
                  <a:pt x="3596903" y="0"/>
                  <a:pt x="3648075" y="51172"/>
                  <a:pt x="3648075" y="114295"/>
                </a:cubicBezTo>
                <a:lnTo>
                  <a:pt x="3648075" y="962030"/>
                </a:lnTo>
                <a:cubicBezTo>
                  <a:pt x="3648075" y="1025153"/>
                  <a:pt x="3596903" y="1076325"/>
                  <a:pt x="3533780" y="1076325"/>
                </a:cubicBezTo>
                <a:lnTo>
                  <a:pt x="114295" y="1076325"/>
                </a:lnTo>
                <a:cubicBezTo>
                  <a:pt x="51172" y="1076325"/>
                  <a:pt x="0" y="1025153"/>
                  <a:pt x="0" y="9620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1025" y="5591175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1M+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1025" y="6048375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 Records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71963" y="5395913"/>
            <a:ext cx="3648075" cy="1076325"/>
          </a:xfrm>
          <a:custGeom>
            <a:avLst/>
            <a:gdLst/>
            <a:ahLst/>
            <a:cxnLst/>
            <a:rect l="l" t="t" r="r" b="b"/>
            <a:pathLst>
              <a:path w="3648075" h="1076325">
                <a:moveTo>
                  <a:pt x="114295" y="0"/>
                </a:moveTo>
                <a:lnTo>
                  <a:pt x="3533780" y="0"/>
                </a:lnTo>
                <a:cubicBezTo>
                  <a:pt x="3596903" y="0"/>
                  <a:pt x="3648075" y="51172"/>
                  <a:pt x="3648075" y="114295"/>
                </a:cubicBezTo>
                <a:lnTo>
                  <a:pt x="3648075" y="962030"/>
                </a:lnTo>
                <a:cubicBezTo>
                  <a:pt x="3648075" y="1025153"/>
                  <a:pt x="3596903" y="1076325"/>
                  <a:pt x="3533780" y="1076325"/>
                </a:cubicBezTo>
                <a:lnTo>
                  <a:pt x="114295" y="1076325"/>
                </a:lnTo>
                <a:cubicBezTo>
                  <a:pt x="51172" y="1076325"/>
                  <a:pt x="0" y="1025153"/>
                  <a:pt x="0" y="9620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67225" y="5591175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~6K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467225" y="6048375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Customers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158163" y="5395913"/>
            <a:ext cx="3648075" cy="1076325"/>
          </a:xfrm>
          <a:custGeom>
            <a:avLst/>
            <a:gdLst/>
            <a:ahLst/>
            <a:cxnLst/>
            <a:rect l="l" t="t" r="r" b="b"/>
            <a:pathLst>
              <a:path w="3648075" h="1076325">
                <a:moveTo>
                  <a:pt x="114295" y="0"/>
                </a:moveTo>
                <a:lnTo>
                  <a:pt x="3533780" y="0"/>
                </a:lnTo>
                <a:cubicBezTo>
                  <a:pt x="3596903" y="0"/>
                  <a:pt x="3648075" y="51172"/>
                  <a:pt x="3648075" y="114295"/>
                </a:cubicBezTo>
                <a:lnTo>
                  <a:pt x="3648075" y="962030"/>
                </a:lnTo>
                <a:cubicBezTo>
                  <a:pt x="3648075" y="1025153"/>
                  <a:pt x="3596903" y="1076325"/>
                  <a:pt x="3533780" y="1076325"/>
                </a:cubicBezTo>
                <a:lnTo>
                  <a:pt x="114295" y="1076325"/>
                </a:lnTo>
                <a:cubicBezTo>
                  <a:pt x="51172" y="1076325"/>
                  <a:pt x="0" y="1025153"/>
                  <a:pt x="0" y="9620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53425" y="5591175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7.6x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353425" y="6048375"/>
            <a:ext cx="3333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Simulated ROI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1828800" cy="314325"/>
          </a:xfrm>
          <a:custGeom>
            <a:avLst/>
            <a:gdLst/>
            <a:ahLst/>
            <a:cxnLst/>
            <a:rect l="l" t="t" r="r" b="b"/>
            <a:pathLst>
              <a:path w="1828800" h="314325">
                <a:moveTo>
                  <a:pt x="76199" y="0"/>
                </a:moveTo>
                <a:lnTo>
                  <a:pt x="1752601" y="0"/>
                </a:lnTo>
                <a:cubicBezTo>
                  <a:pt x="1794685" y="0"/>
                  <a:pt x="1828800" y="34115"/>
                  <a:pt x="1828800" y="76199"/>
                </a:cubicBezTo>
                <a:lnTo>
                  <a:pt x="1828800" y="238126"/>
                </a:lnTo>
                <a:cubicBezTo>
                  <a:pt x="1828800" y="280210"/>
                  <a:pt x="1794685" y="314325"/>
                  <a:pt x="1752601" y="314325"/>
                </a:cubicBezTo>
                <a:lnTo>
                  <a:pt x="76199" y="314325"/>
                </a:lnTo>
                <a:cubicBezTo>
                  <a:pt x="34115" y="314325"/>
                  <a:pt x="0" y="280210"/>
                  <a:pt x="0" y="238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2925" y="457200"/>
            <a:ext cx="15897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5725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Roadmap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4668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5763" y="1814513"/>
            <a:ext cx="5553075" cy="1485900"/>
          </a:xfrm>
          <a:custGeom>
            <a:avLst/>
            <a:gdLst/>
            <a:ahLst/>
            <a:cxnLst/>
            <a:rect l="l" t="t" r="r" b="b"/>
            <a:pathLst>
              <a:path w="5553075" h="1485900">
                <a:moveTo>
                  <a:pt x="152394" y="0"/>
                </a:moveTo>
                <a:lnTo>
                  <a:pt x="5400681" y="0"/>
                </a:lnTo>
                <a:cubicBezTo>
                  <a:pt x="5484846" y="0"/>
                  <a:pt x="5553075" y="68229"/>
                  <a:pt x="5553075" y="152394"/>
                </a:cubicBezTo>
                <a:lnTo>
                  <a:pt x="5553075" y="1333506"/>
                </a:lnTo>
                <a:cubicBezTo>
                  <a:pt x="5553075" y="1417671"/>
                  <a:pt x="5484846" y="1485900"/>
                  <a:pt x="5400681" y="1485900"/>
                </a:cubicBezTo>
                <a:lnTo>
                  <a:pt x="152394" y="1485900"/>
                </a:lnTo>
                <a:cubicBezTo>
                  <a:pt x="68229" y="1485900"/>
                  <a:pt x="0" y="1417671"/>
                  <a:pt x="0" y="13335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2">
                  <a:alpha val="20000"/>
                </a:srgbClr>
              </a:gs>
              <a:gs pos="100000">
                <a:srgbClr val="4A6C82">
                  <a:alpha val="5000"/>
                </a:srgbClr>
              </a:gs>
            </a:gsLst>
            <a:lin ang="2700000" scaled="1"/>
          </a:gra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9125" y="20478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2700000" scaled="1"/>
          </a:gradFill>
          <a:ln/>
        </p:spPr>
      </p:sp>
      <p:sp>
        <p:nvSpPr>
          <p:cNvPr id="8" name="Text 6"/>
          <p:cNvSpPr/>
          <p:nvPr/>
        </p:nvSpPr>
        <p:spPr>
          <a:xfrm>
            <a:off x="561975" y="204787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43025" y="2047875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Problem &amp; Objectives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43025" y="2466975"/>
            <a:ext cx="44481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Defining the churn prediction challenge and strategic revenue optimization goals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53163" y="1814513"/>
            <a:ext cx="5553075" cy="1485900"/>
          </a:xfrm>
          <a:custGeom>
            <a:avLst/>
            <a:gdLst/>
            <a:ahLst/>
            <a:cxnLst/>
            <a:rect l="l" t="t" r="r" b="b"/>
            <a:pathLst>
              <a:path w="5553075" h="1485900">
                <a:moveTo>
                  <a:pt x="152394" y="0"/>
                </a:moveTo>
                <a:lnTo>
                  <a:pt x="5400681" y="0"/>
                </a:lnTo>
                <a:cubicBezTo>
                  <a:pt x="5484846" y="0"/>
                  <a:pt x="5553075" y="68229"/>
                  <a:pt x="5553075" y="152394"/>
                </a:cubicBezTo>
                <a:lnTo>
                  <a:pt x="5553075" y="1333506"/>
                </a:lnTo>
                <a:cubicBezTo>
                  <a:pt x="5553075" y="1417671"/>
                  <a:pt x="5484846" y="1485900"/>
                  <a:pt x="5400681" y="1485900"/>
                </a:cubicBezTo>
                <a:lnTo>
                  <a:pt x="152394" y="1485900"/>
                </a:lnTo>
                <a:cubicBezTo>
                  <a:pt x="68229" y="1485900"/>
                  <a:pt x="0" y="1417671"/>
                  <a:pt x="0" y="13335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2">
                  <a:alpha val="20000"/>
                </a:srgbClr>
              </a:gs>
              <a:gs pos="100000">
                <a:srgbClr val="4A6C82">
                  <a:alpha val="5000"/>
                </a:srgbClr>
              </a:gs>
            </a:gsLst>
            <a:lin ang="2700000" scaled="1"/>
          </a:gra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86525" y="20478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2700000" scaled="1"/>
          </a:gradFill>
          <a:ln/>
        </p:spPr>
      </p:sp>
      <p:sp>
        <p:nvSpPr>
          <p:cNvPr id="13" name="Text 11"/>
          <p:cNvSpPr/>
          <p:nvPr/>
        </p:nvSpPr>
        <p:spPr>
          <a:xfrm>
            <a:off x="6429375" y="204787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10425" y="2047875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Foundation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210425" y="2466975"/>
            <a:ext cx="44481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Exploring 1M+ retail transactions, data quality assessment, and preprocessing pipeline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3539282"/>
            <a:ext cx="5553075" cy="1485900"/>
          </a:xfrm>
          <a:custGeom>
            <a:avLst/>
            <a:gdLst/>
            <a:ahLst/>
            <a:cxnLst/>
            <a:rect l="l" t="t" r="r" b="b"/>
            <a:pathLst>
              <a:path w="5553075" h="1485900">
                <a:moveTo>
                  <a:pt x="152394" y="0"/>
                </a:moveTo>
                <a:lnTo>
                  <a:pt x="5400681" y="0"/>
                </a:lnTo>
                <a:cubicBezTo>
                  <a:pt x="5484846" y="0"/>
                  <a:pt x="5553075" y="68229"/>
                  <a:pt x="5553075" y="152394"/>
                </a:cubicBezTo>
                <a:lnTo>
                  <a:pt x="5553075" y="1333506"/>
                </a:lnTo>
                <a:cubicBezTo>
                  <a:pt x="5553075" y="1417671"/>
                  <a:pt x="5484846" y="1485900"/>
                  <a:pt x="5400681" y="1485900"/>
                </a:cubicBezTo>
                <a:lnTo>
                  <a:pt x="152394" y="1485900"/>
                </a:lnTo>
                <a:cubicBezTo>
                  <a:pt x="68229" y="1485900"/>
                  <a:pt x="0" y="1417671"/>
                  <a:pt x="0" y="13335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2">
                  <a:alpha val="20000"/>
                </a:srgbClr>
              </a:gs>
              <a:gs pos="100000">
                <a:srgbClr val="4A6C82">
                  <a:alpha val="5000"/>
                </a:srgbClr>
              </a:gs>
            </a:gsLst>
            <a:lin ang="2700000" scaled="1"/>
          </a:gra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125" y="377264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2700000" scaled="1"/>
          </a:gradFill>
          <a:ln/>
        </p:spPr>
      </p:sp>
      <p:sp>
        <p:nvSpPr>
          <p:cNvPr id="18" name="Text 16"/>
          <p:cNvSpPr/>
          <p:nvPr/>
        </p:nvSpPr>
        <p:spPr>
          <a:xfrm>
            <a:off x="561975" y="3772644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43025" y="3772644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 &amp; Feature Engineering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43025" y="4191744"/>
            <a:ext cx="44481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Time-based churn definition, RFM analysis, and behavioral feature extraction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53163" y="3539282"/>
            <a:ext cx="5553075" cy="1485900"/>
          </a:xfrm>
          <a:custGeom>
            <a:avLst/>
            <a:gdLst/>
            <a:ahLst/>
            <a:cxnLst/>
            <a:rect l="l" t="t" r="r" b="b"/>
            <a:pathLst>
              <a:path w="5553075" h="1485900">
                <a:moveTo>
                  <a:pt x="152394" y="0"/>
                </a:moveTo>
                <a:lnTo>
                  <a:pt x="5400681" y="0"/>
                </a:lnTo>
                <a:cubicBezTo>
                  <a:pt x="5484846" y="0"/>
                  <a:pt x="5553075" y="68229"/>
                  <a:pt x="5553075" y="152394"/>
                </a:cubicBezTo>
                <a:lnTo>
                  <a:pt x="5553075" y="1333506"/>
                </a:lnTo>
                <a:cubicBezTo>
                  <a:pt x="5553075" y="1417671"/>
                  <a:pt x="5484846" y="1485900"/>
                  <a:pt x="5400681" y="1485900"/>
                </a:cubicBezTo>
                <a:lnTo>
                  <a:pt x="152394" y="1485900"/>
                </a:lnTo>
                <a:cubicBezTo>
                  <a:pt x="68229" y="1485900"/>
                  <a:pt x="0" y="1417671"/>
                  <a:pt x="0" y="13335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2">
                  <a:alpha val="20000"/>
                </a:srgbClr>
              </a:gs>
              <a:gs pos="100000">
                <a:srgbClr val="4A6C82">
                  <a:alpha val="5000"/>
                </a:srgbClr>
              </a:gs>
            </a:gsLst>
            <a:lin ang="2700000" scaled="1"/>
          </a:gra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86525" y="377264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2700000" scaled="1"/>
          </a:gradFill>
          <a:ln/>
        </p:spPr>
      </p:sp>
      <p:sp>
        <p:nvSpPr>
          <p:cNvPr id="23" name="Text 21"/>
          <p:cNvSpPr/>
          <p:nvPr/>
        </p:nvSpPr>
        <p:spPr>
          <a:xfrm>
            <a:off x="6429375" y="3772644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10425" y="3772644"/>
            <a:ext cx="447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 &amp; Results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10425" y="4191744"/>
            <a:ext cx="44481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Three-algorithm comparison, evaluation metrics, and SHAP explainability analysis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5763" y="5264051"/>
            <a:ext cx="11420475" cy="1209675"/>
          </a:xfrm>
          <a:custGeom>
            <a:avLst/>
            <a:gdLst/>
            <a:ahLst/>
            <a:cxnLst/>
            <a:rect l="l" t="t" r="r" b="b"/>
            <a:pathLst>
              <a:path w="11420475" h="1209675">
                <a:moveTo>
                  <a:pt x="152395" y="0"/>
                </a:moveTo>
                <a:lnTo>
                  <a:pt x="11268080" y="0"/>
                </a:lnTo>
                <a:cubicBezTo>
                  <a:pt x="11352189" y="0"/>
                  <a:pt x="11420475" y="68286"/>
                  <a:pt x="11420475" y="152395"/>
                </a:cubicBezTo>
                <a:lnTo>
                  <a:pt x="11420475" y="1057280"/>
                </a:lnTo>
                <a:cubicBezTo>
                  <a:pt x="11420475" y="1141389"/>
                  <a:pt x="11352189" y="1209675"/>
                  <a:pt x="11268080" y="1209675"/>
                </a:cubicBezTo>
                <a:lnTo>
                  <a:pt x="152395" y="1209675"/>
                </a:lnTo>
                <a:cubicBezTo>
                  <a:pt x="68286" y="1209675"/>
                  <a:pt x="0" y="1141389"/>
                  <a:pt x="0" y="1057280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2">
                  <a:alpha val="20000"/>
                </a:srgbClr>
              </a:gs>
              <a:gs pos="100000">
                <a:srgbClr val="4A6C82">
                  <a:alpha val="5000"/>
                </a:srgbClr>
              </a:gs>
            </a:gsLst>
            <a:lin ang="2700000" scaled="1"/>
          </a:gra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125" y="549741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2700000" scaled="1"/>
          </a:gradFill>
          <a:ln/>
        </p:spPr>
      </p:sp>
      <p:sp>
        <p:nvSpPr>
          <p:cNvPr id="28" name="Text 26"/>
          <p:cNvSpPr/>
          <p:nvPr/>
        </p:nvSpPr>
        <p:spPr>
          <a:xfrm>
            <a:off x="561975" y="5497413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43025" y="5497413"/>
            <a:ext cx="10344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 &amp; Business Impact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43025" y="5916513"/>
            <a:ext cx="103155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Revenue-at-risk simulation, ROI-optimized targeting strategy, and strategic recommendations for customer retention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1800225" cy="314325"/>
          </a:xfrm>
          <a:custGeom>
            <a:avLst/>
            <a:gdLst/>
            <a:ahLst/>
            <a:cxnLst/>
            <a:rect l="l" t="t" r="r" b="b"/>
            <a:pathLst>
              <a:path w="1800225" h="314325">
                <a:moveTo>
                  <a:pt x="76199" y="0"/>
                </a:moveTo>
                <a:lnTo>
                  <a:pt x="1724026" y="0"/>
                </a:lnTo>
                <a:cubicBezTo>
                  <a:pt x="1766110" y="0"/>
                  <a:pt x="1800225" y="34115"/>
                  <a:pt x="1800225" y="76199"/>
                </a:cubicBezTo>
                <a:lnTo>
                  <a:pt x="1800225" y="238126"/>
                </a:lnTo>
                <a:cubicBezTo>
                  <a:pt x="1800225" y="280210"/>
                  <a:pt x="1766110" y="314325"/>
                  <a:pt x="1724026" y="314325"/>
                </a:cubicBezTo>
                <a:lnTo>
                  <a:pt x="76199" y="314325"/>
                </a:lnTo>
                <a:cubicBezTo>
                  <a:pt x="34115" y="314325"/>
                  <a:pt x="0" y="280210"/>
                  <a:pt x="0" y="238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2925" y="457200"/>
            <a:ext cx="156671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CONTEXT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191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Churn Challenge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144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400050" y="1685925"/>
            <a:ext cx="5543550" cy="1495425"/>
          </a:xfrm>
          <a:custGeom>
            <a:avLst/>
            <a:gdLst/>
            <a:ahLst/>
            <a:cxnLst/>
            <a:rect l="l" t="t" r="r" b="b"/>
            <a:pathLst>
              <a:path w="5543550" h="1495425">
                <a:moveTo>
                  <a:pt x="0" y="0"/>
                </a:moveTo>
                <a:lnTo>
                  <a:pt x="5429255" y="0"/>
                </a:lnTo>
                <a:cubicBezTo>
                  <a:pt x="5492378" y="0"/>
                  <a:pt x="5543550" y="51172"/>
                  <a:pt x="5543550" y="114295"/>
                </a:cubicBezTo>
                <a:lnTo>
                  <a:pt x="5543550" y="1381130"/>
                </a:lnTo>
                <a:cubicBezTo>
                  <a:pt x="5543550" y="1444253"/>
                  <a:pt x="5492378" y="1495425"/>
                  <a:pt x="5429255" y="1495425"/>
                </a:cubicBezTo>
                <a:lnTo>
                  <a:pt x="0" y="1495425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685925"/>
            <a:ext cx="38100" cy="1495425"/>
          </a:xfrm>
          <a:custGeom>
            <a:avLst/>
            <a:gdLst/>
            <a:ahLst/>
            <a:cxnLst/>
            <a:rect l="l" t="t" r="r" b="b"/>
            <a:pathLst>
              <a:path w="38100" h="1495425">
                <a:moveTo>
                  <a:pt x="0" y="0"/>
                </a:moveTo>
                <a:lnTo>
                  <a:pt x="38100" y="0"/>
                </a:lnTo>
                <a:lnTo>
                  <a:pt x="38100" y="1495425"/>
                </a:lnTo>
                <a:lnTo>
                  <a:pt x="0" y="1495425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Shape 6"/>
          <p:cNvSpPr/>
          <p:nvPr/>
        </p:nvSpPr>
        <p:spPr>
          <a:xfrm>
            <a:off x="676275" y="19526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42875" y="98227"/>
                </a:moveTo>
                <a:cubicBezTo>
                  <a:pt x="132997" y="98227"/>
                  <a:pt x="125016" y="106207"/>
                  <a:pt x="125016" y="116086"/>
                </a:cubicBezTo>
                <a:cubicBezTo>
                  <a:pt x="125016" y="123509"/>
                  <a:pt x="119044" y="129480"/>
                  <a:pt x="111621" y="129480"/>
                </a:cubicBezTo>
                <a:cubicBezTo>
                  <a:pt x="104198" y="129480"/>
                  <a:pt x="98227" y="123509"/>
                  <a:pt x="98227" y="116086"/>
                </a:cubicBezTo>
                <a:cubicBezTo>
                  <a:pt x="98227" y="91418"/>
                  <a:pt x="118207" y="71438"/>
                  <a:pt x="142875" y="71438"/>
                </a:cubicBezTo>
                <a:cubicBezTo>
                  <a:pt x="167543" y="71438"/>
                  <a:pt x="187523" y="91418"/>
                  <a:pt x="187523" y="116086"/>
                </a:cubicBezTo>
                <a:cubicBezTo>
                  <a:pt x="187523" y="142429"/>
                  <a:pt x="167432" y="153591"/>
                  <a:pt x="156270" y="157665"/>
                </a:cubicBezTo>
                <a:lnTo>
                  <a:pt x="156270" y="159786"/>
                </a:lnTo>
                <a:cubicBezTo>
                  <a:pt x="156270" y="167208"/>
                  <a:pt x="150298" y="173180"/>
                  <a:pt x="142875" y="173180"/>
                </a:cubicBezTo>
                <a:cubicBezTo>
                  <a:pt x="135452" y="173180"/>
                  <a:pt x="129480" y="167208"/>
                  <a:pt x="129480" y="159786"/>
                </a:cubicBezTo>
                <a:lnTo>
                  <a:pt x="129480" y="155265"/>
                </a:lnTo>
                <a:cubicBezTo>
                  <a:pt x="129480" y="143824"/>
                  <a:pt x="137740" y="135620"/>
                  <a:pt x="146279" y="132829"/>
                </a:cubicBezTo>
                <a:cubicBezTo>
                  <a:pt x="149851" y="131657"/>
                  <a:pt x="153646" y="129760"/>
                  <a:pt x="156437" y="127081"/>
                </a:cubicBezTo>
                <a:cubicBezTo>
                  <a:pt x="158837" y="124737"/>
                  <a:pt x="160734" y="121500"/>
                  <a:pt x="160734" y="116142"/>
                </a:cubicBezTo>
                <a:cubicBezTo>
                  <a:pt x="160734" y="106263"/>
                  <a:pt x="152753" y="98282"/>
                  <a:pt x="142875" y="98282"/>
                </a:cubicBezTo>
                <a:close/>
                <a:moveTo>
                  <a:pt x="125016" y="205383"/>
                </a:moveTo>
                <a:cubicBezTo>
                  <a:pt x="125016" y="195526"/>
                  <a:pt x="133018" y="187523"/>
                  <a:pt x="142875" y="187523"/>
                </a:cubicBezTo>
                <a:cubicBezTo>
                  <a:pt x="152732" y="187523"/>
                  <a:pt x="160734" y="195526"/>
                  <a:pt x="160734" y="205383"/>
                </a:cubicBezTo>
                <a:cubicBezTo>
                  <a:pt x="160734" y="215240"/>
                  <a:pt x="152732" y="223242"/>
                  <a:pt x="142875" y="223242"/>
                </a:cubicBezTo>
                <a:cubicBezTo>
                  <a:pt x="133018" y="223242"/>
                  <a:pt x="125016" y="215240"/>
                  <a:pt x="125016" y="20538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9" name="Text 7"/>
          <p:cNvSpPr/>
          <p:nvPr/>
        </p:nvSpPr>
        <p:spPr>
          <a:xfrm>
            <a:off x="1140768" y="1914525"/>
            <a:ext cx="468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Business Question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0768" y="2333625"/>
            <a:ext cx="4667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"Which customers are likely to churn in the next 90 days?"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409950"/>
            <a:ext cx="5543550" cy="1495425"/>
          </a:xfrm>
          <a:custGeom>
            <a:avLst/>
            <a:gdLst/>
            <a:ahLst/>
            <a:cxnLst/>
            <a:rect l="l" t="t" r="r" b="b"/>
            <a:pathLst>
              <a:path w="5543550" h="1495425">
                <a:moveTo>
                  <a:pt x="0" y="0"/>
                </a:moveTo>
                <a:lnTo>
                  <a:pt x="5429255" y="0"/>
                </a:lnTo>
                <a:cubicBezTo>
                  <a:pt x="5492378" y="0"/>
                  <a:pt x="5543550" y="51172"/>
                  <a:pt x="5543550" y="114295"/>
                </a:cubicBezTo>
                <a:lnTo>
                  <a:pt x="5543550" y="1381130"/>
                </a:lnTo>
                <a:cubicBezTo>
                  <a:pt x="5543550" y="1444253"/>
                  <a:pt x="5492378" y="1495425"/>
                  <a:pt x="5429255" y="1495425"/>
                </a:cubicBezTo>
                <a:lnTo>
                  <a:pt x="0" y="1495425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3409950"/>
            <a:ext cx="38100" cy="1495425"/>
          </a:xfrm>
          <a:custGeom>
            <a:avLst/>
            <a:gdLst/>
            <a:ahLst/>
            <a:cxnLst/>
            <a:rect l="l" t="t" r="r" b="b"/>
            <a:pathLst>
              <a:path w="38100" h="1495425">
                <a:moveTo>
                  <a:pt x="0" y="0"/>
                </a:moveTo>
                <a:lnTo>
                  <a:pt x="38100" y="0"/>
                </a:lnTo>
                <a:lnTo>
                  <a:pt x="38100" y="1495425"/>
                </a:lnTo>
                <a:lnTo>
                  <a:pt x="0" y="1495425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3894" y="367665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4" name="Text 12"/>
          <p:cNvSpPr/>
          <p:nvPr/>
        </p:nvSpPr>
        <p:spPr>
          <a:xfrm>
            <a:off x="1065907" y="36385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Importance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5907" y="4057650"/>
            <a:ext cx="47434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"How can churn predictions be translated into profitable retention strategy?"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5763" y="5138738"/>
            <a:ext cx="5553075" cy="1228725"/>
          </a:xfrm>
          <a:custGeom>
            <a:avLst/>
            <a:gdLst/>
            <a:ahLst/>
            <a:cxnLst/>
            <a:rect l="l" t="t" r="r" b="b"/>
            <a:pathLst>
              <a:path w="5553075" h="1228725">
                <a:moveTo>
                  <a:pt x="114296" y="0"/>
                </a:moveTo>
                <a:lnTo>
                  <a:pt x="5438779" y="0"/>
                </a:lnTo>
                <a:cubicBezTo>
                  <a:pt x="5501903" y="0"/>
                  <a:pt x="5553075" y="51172"/>
                  <a:pt x="5553075" y="114296"/>
                </a:cubicBezTo>
                <a:lnTo>
                  <a:pt x="5553075" y="1114429"/>
                </a:lnTo>
                <a:cubicBezTo>
                  <a:pt x="5553075" y="1177553"/>
                  <a:pt x="5501903" y="1228725"/>
                  <a:pt x="5438779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4A6C82">
                  <a:alpha val="10000"/>
                </a:srgbClr>
              </a:gs>
            </a:gsLst>
            <a:lin ang="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7688" y="56102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51079" y="0"/>
                  <a:pt x="158614" y="4521"/>
                  <a:pt x="162520" y="11720"/>
                </a:cubicBezTo>
                <a:lnTo>
                  <a:pt x="283071" y="234962"/>
                </a:lnTo>
                <a:cubicBezTo>
                  <a:pt x="286810" y="241883"/>
                  <a:pt x="286643" y="250254"/>
                  <a:pt x="282625" y="257008"/>
                </a:cubicBezTo>
                <a:cubicBezTo>
                  <a:pt x="278606" y="263761"/>
                  <a:pt x="271295" y="267891"/>
                  <a:pt x="263426" y="267891"/>
                </a:cubicBezTo>
                <a:lnTo>
                  <a:pt x="22324" y="267891"/>
                </a:lnTo>
                <a:cubicBezTo>
                  <a:pt x="14455" y="267891"/>
                  <a:pt x="7200" y="263761"/>
                  <a:pt x="3125" y="257008"/>
                </a:cubicBezTo>
                <a:cubicBezTo>
                  <a:pt x="-949" y="250254"/>
                  <a:pt x="-1060" y="241883"/>
                  <a:pt x="2679" y="234962"/>
                </a:cubicBezTo>
                <a:lnTo>
                  <a:pt x="123230" y="11720"/>
                </a:lnTo>
                <a:cubicBezTo>
                  <a:pt x="127136" y="4521"/>
                  <a:pt x="134671" y="0"/>
                  <a:pt x="142875" y="0"/>
                </a:cubicBezTo>
                <a:close/>
                <a:moveTo>
                  <a:pt x="142875" y="93762"/>
                </a:moveTo>
                <a:cubicBezTo>
                  <a:pt x="135452" y="93762"/>
                  <a:pt x="129480" y="99733"/>
                  <a:pt x="129480" y="107156"/>
                </a:cubicBezTo>
                <a:lnTo>
                  <a:pt x="129480" y="169664"/>
                </a:lnTo>
                <a:cubicBezTo>
                  <a:pt x="129480" y="177087"/>
                  <a:pt x="135452" y="183059"/>
                  <a:pt x="142875" y="183059"/>
                </a:cubicBezTo>
                <a:cubicBezTo>
                  <a:pt x="150298" y="183059"/>
                  <a:pt x="156270" y="177087"/>
                  <a:pt x="156270" y="169664"/>
                </a:cubicBezTo>
                <a:lnTo>
                  <a:pt x="156270" y="107156"/>
                </a:lnTo>
                <a:cubicBezTo>
                  <a:pt x="156270" y="99733"/>
                  <a:pt x="150298" y="93762"/>
                  <a:pt x="142875" y="93762"/>
                </a:cubicBezTo>
                <a:close/>
                <a:moveTo>
                  <a:pt x="157776" y="214313"/>
                </a:moveTo>
                <a:cubicBezTo>
                  <a:pt x="158115" y="208781"/>
                  <a:pt x="155357" y="203519"/>
                  <a:pt x="150615" y="200651"/>
                </a:cubicBezTo>
                <a:cubicBezTo>
                  <a:pt x="145874" y="197783"/>
                  <a:pt x="139932" y="197783"/>
                  <a:pt x="135190" y="200651"/>
                </a:cubicBezTo>
                <a:cubicBezTo>
                  <a:pt x="130449" y="203519"/>
                  <a:pt x="127690" y="208781"/>
                  <a:pt x="128029" y="214312"/>
                </a:cubicBezTo>
                <a:cubicBezTo>
                  <a:pt x="127690" y="219844"/>
                  <a:pt x="130449" y="225106"/>
                  <a:pt x="135190" y="227974"/>
                </a:cubicBezTo>
                <a:cubicBezTo>
                  <a:pt x="139932" y="230842"/>
                  <a:pt x="145874" y="230842"/>
                  <a:pt x="150615" y="227974"/>
                </a:cubicBezTo>
                <a:cubicBezTo>
                  <a:pt x="155357" y="225106"/>
                  <a:pt x="158115" y="219844"/>
                  <a:pt x="157776" y="21431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8" name="Text 16"/>
          <p:cNvSpPr/>
          <p:nvPr/>
        </p:nvSpPr>
        <p:spPr>
          <a:xfrm>
            <a:off x="955774" y="5334000"/>
            <a:ext cx="4886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Revenue Impact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5774" y="5638800"/>
            <a:ext cx="4876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churn directly affects bottom-line revenue. Proactive retention is more cost-effective than acquisition.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53163" y="1585913"/>
            <a:ext cx="5553075" cy="1819275"/>
          </a:xfrm>
          <a:custGeom>
            <a:avLst/>
            <a:gdLst/>
            <a:ahLst/>
            <a:cxnLst/>
            <a:rect l="l" t="t" r="r" b="b"/>
            <a:pathLst>
              <a:path w="5553075" h="1819275">
                <a:moveTo>
                  <a:pt x="114305" y="0"/>
                </a:moveTo>
                <a:lnTo>
                  <a:pt x="5438770" y="0"/>
                </a:lnTo>
                <a:cubicBezTo>
                  <a:pt x="5501899" y="0"/>
                  <a:pt x="5553075" y="51176"/>
                  <a:pt x="5553075" y="114305"/>
                </a:cubicBezTo>
                <a:lnTo>
                  <a:pt x="5553075" y="1704970"/>
                </a:lnTo>
                <a:cubicBezTo>
                  <a:pt x="5553075" y="1768099"/>
                  <a:pt x="5501899" y="1819275"/>
                  <a:pt x="5438770" y="1819275"/>
                </a:cubicBezTo>
                <a:lnTo>
                  <a:pt x="114305" y="1819275"/>
                </a:lnTo>
                <a:cubicBezTo>
                  <a:pt x="51176" y="1819275"/>
                  <a:pt x="0" y="1768099"/>
                  <a:pt x="0" y="1704970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2">
                  <a:alpha val="20000"/>
                </a:srgbClr>
              </a:gs>
              <a:gs pos="100000">
                <a:srgbClr val="4A6C82">
                  <a:alpha val="5000"/>
                </a:srgbClr>
              </a:gs>
            </a:gsLst>
            <a:lin ang="2700000" scaled="1"/>
          </a:gra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7000" y="18192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2" name="Text 20"/>
          <p:cNvSpPr/>
          <p:nvPr/>
        </p:nvSpPr>
        <p:spPr>
          <a:xfrm>
            <a:off x="6848475" y="1781175"/>
            <a:ext cx="194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48425" y="22574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506766" y="23050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5" name="Text 23"/>
          <p:cNvSpPr/>
          <p:nvPr/>
        </p:nvSpPr>
        <p:spPr>
          <a:xfrm>
            <a:off x="6791325" y="2238375"/>
            <a:ext cx="29622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a time-aware churn prediction system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48425" y="2619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06766" y="2667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8" name="Text 26"/>
          <p:cNvSpPr/>
          <p:nvPr/>
        </p:nvSpPr>
        <p:spPr>
          <a:xfrm>
            <a:off x="6791325" y="2600325"/>
            <a:ext cx="26384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 predictions to revenue impact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8425" y="2981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506766" y="30289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1" name="Text 29"/>
          <p:cNvSpPr/>
          <p:nvPr/>
        </p:nvSpPr>
        <p:spPr>
          <a:xfrm>
            <a:off x="6791325" y="2962275"/>
            <a:ext cx="23717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retention strategy for ROI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53163" y="3605213"/>
            <a:ext cx="5553075" cy="2047875"/>
          </a:xfrm>
          <a:custGeom>
            <a:avLst/>
            <a:gdLst/>
            <a:ahLst/>
            <a:cxnLst/>
            <a:rect l="l" t="t" r="r" b="b"/>
            <a:pathLst>
              <a:path w="5553075" h="2047875">
                <a:moveTo>
                  <a:pt x="114292" y="0"/>
                </a:moveTo>
                <a:lnTo>
                  <a:pt x="5438783" y="0"/>
                </a:lnTo>
                <a:cubicBezTo>
                  <a:pt x="5501905" y="0"/>
                  <a:pt x="5553075" y="51170"/>
                  <a:pt x="5553075" y="114292"/>
                </a:cubicBezTo>
                <a:lnTo>
                  <a:pt x="5553075" y="1933583"/>
                </a:lnTo>
                <a:cubicBezTo>
                  <a:pt x="5553075" y="1996705"/>
                  <a:pt x="5501905" y="2047875"/>
                  <a:pt x="5438783" y="2047875"/>
                </a:cubicBezTo>
                <a:lnTo>
                  <a:pt x="114292" y="2047875"/>
                </a:lnTo>
                <a:cubicBezTo>
                  <a:pt x="51170" y="2047875"/>
                  <a:pt x="0" y="1996705"/>
                  <a:pt x="0" y="1933583"/>
                </a:cubicBezTo>
                <a:lnTo>
                  <a:pt x="0" y="114292"/>
                </a:lnTo>
                <a:cubicBezTo>
                  <a:pt x="0" y="51212"/>
                  <a:pt x="51212" y="0"/>
                  <a:pt x="114292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62713" y="38385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4" name="Text 32"/>
          <p:cNvSpPr/>
          <p:nvPr/>
        </p:nvSpPr>
        <p:spPr>
          <a:xfrm>
            <a:off x="6848475" y="3800475"/>
            <a:ext cx="1895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Differentiator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48425" y="4257675"/>
            <a:ext cx="5238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churn projects stop at accuracy metrics. </a:t>
            </a: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goes beyond: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48425" y="46958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7" name="Text 35"/>
          <p:cNvSpPr/>
          <p:nvPr/>
        </p:nvSpPr>
        <p:spPr>
          <a:xfrm>
            <a:off x="6600825" y="4619625"/>
            <a:ext cx="2819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Forward-looking validation (leakage-free)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48425" y="50006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9" name="Text 37"/>
          <p:cNvSpPr/>
          <p:nvPr/>
        </p:nvSpPr>
        <p:spPr>
          <a:xfrm>
            <a:off x="6600825" y="4924425"/>
            <a:ext cx="186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Revenue-at-risk simulation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48425" y="530542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1" name="Text 39"/>
          <p:cNvSpPr/>
          <p:nvPr/>
        </p:nvSpPr>
        <p:spPr>
          <a:xfrm>
            <a:off x="6600825" y="5229225"/>
            <a:ext cx="222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ROI-optimized targeting strategy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1800225" cy="314325"/>
          </a:xfrm>
          <a:custGeom>
            <a:avLst/>
            <a:gdLst/>
            <a:ahLst/>
            <a:cxnLst/>
            <a:rect l="l" t="t" r="r" b="b"/>
            <a:pathLst>
              <a:path w="1800225" h="314325">
                <a:moveTo>
                  <a:pt x="76199" y="0"/>
                </a:moveTo>
                <a:lnTo>
                  <a:pt x="1724026" y="0"/>
                </a:lnTo>
                <a:cubicBezTo>
                  <a:pt x="1766110" y="0"/>
                  <a:pt x="1800225" y="34115"/>
                  <a:pt x="1800225" y="76199"/>
                </a:cubicBezTo>
                <a:lnTo>
                  <a:pt x="1800225" y="238126"/>
                </a:lnTo>
                <a:cubicBezTo>
                  <a:pt x="1800225" y="280210"/>
                  <a:pt x="1766110" y="314325"/>
                  <a:pt x="1724026" y="314325"/>
                </a:cubicBezTo>
                <a:lnTo>
                  <a:pt x="76199" y="314325"/>
                </a:lnTo>
                <a:cubicBezTo>
                  <a:pt x="34115" y="314325"/>
                  <a:pt x="0" y="280210"/>
                  <a:pt x="0" y="238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2925" y="457200"/>
            <a:ext cx="15631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FOUNDATION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191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Overview: 1M+ Transaction Records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144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5763" y="1585913"/>
            <a:ext cx="2705100" cy="1419225"/>
          </a:xfrm>
          <a:custGeom>
            <a:avLst/>
            <a:gdLst/>
            <a:ahLst/>
            <a:cxnLst/>
            <a:rect l="l" t="t" r="r" b="b"/>
            <a:pathLst>
              <a:path w="2705100" h="1419225">
                <a:moveTo>
                  <a:pt x="114304" y="0"/>
                </a:moveTo>
                <a:lnTo>
                  <a:pt x="2590796" y="0"/>
                </a:lnTo>
                <a:cubicBezTo>
                  <a:pt x="2653924" y="0"/>
                  <a:pt x="2705100" y="51176"/>
                  <a:pt x="2705100" y="114304"/>
                </a:cubicBezTo>
                <a:lnTo>
                  <a:pt x="2705100" y="1304921"/>
                </a:lnTo>
                <a:cubicBezTo>
                  <a:pt x="2705100" y="1368049"/>
                  <a:pt x="2653924" y="1419225"/>
                  <a:pt x="2590796" y="1419225"/>
                </a:cubicBezTo>
                <a:lnTo>
                  <a:pt x="114304" y="1419225"/>
                </a:lnTo>
                <a:cubicBezTo>
                  <a:pt x="51176" y="1419225"/>
                  <a:pt x="0" y="1368049"/>
                  <a:pt x="0" y="130492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2">
                  <a:alpha val="20000"/>
                </a:srgbClr>
              </a:gs>
              <a:gs pos="100000">
                <a:srgbClr val="4A6C82">
                  <a:alpha val="5000"/>
                </a:srgbClr>
              </a:gs>
            </a:gsLst>
            <a:lin ang="2700000" scaled="1"/>
          </a:gra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725" y="1781175"/>
            <a:ext cx="2543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1,067,371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8163" y="2314575"/>
            <a:ext cx="240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Transactions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7688" y="2619375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dataset size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0888" y="1585913"/>
            <a:ext cx="2705100" cy="1419225"/>
          </a:xfrm>
          <a:custGeom>
            <a:avLst/>
            <a:gdLst/>
            <a:ahLst/>
            <a:cxnLst/>
            <a:rect l="l" t="t" r="r" b="b"/>
            <a:pathLst>
              <a:path w="2705100" h="1419225">
                <a:moveTo>
                  <a:pt x="114304" y="0"/>
                </a:moveTo>
                <a:lnTo>
                  <a:pt x="2590796" y="0"/>
                </a:lnTo>
                <a:cubicBezTo>
                  <a:pt x="2653924" y="0"/>
                  <a:pt x="2705100" y="51176"/>
                  <a:pt x="2705100" y="114304"/>
                </a:cubicBezTo>
                <a:lnTo>
                  <a:pt x="2705100" y="1304921"/>
                </a:lnTo>
                <a:cubicBezTo>
                  <a:pt x="2705100" y="1368049"/>
                  <a:pt x="2653924" y="1419225"/>
                  <a:pt x="2590796" y="1419225"/>
                </a:cubicBezTo>
                <a:lnTo>
                  <a:pt x="114304" y="1419225"/>
                </a:lnTo>
                <a:cubicBezTo>
                  <a:pt x="51176" y="1419225"/>
                  <a:pt x="0" y="1368049"/>
                  <a:pt x="0" y="130492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2">
                  <a:alpha val="20000"/>
                </a:srgbClr>
              </a:gs>
              <a:gs pos="100000">
                <a:srgbClr val="4A6C82">
                  <a:alpha val="5000"/>
                </a:srgbClr>
              </a:gs>
            </a:gsLst>
            <a:lin ang="2700000" scaled="1"/>
          </a:gra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1850" y="1781175"/>
            <a:ext cx="2543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5,942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43288" y="2314575"/>
            <a:ext cx="240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Customers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52813" y="2619375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Distinct Customer IDs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6013" y="1585913"/>
            <a:ext cx="2705100" cy="1419225"/>
          </a:xfrm>
          <a:custGeom>
            <a:avLst/>
            <a:gdLst/>
            <a:ahLst/>
            <a:cxnLst/>
            <a:rect l="l" t="t" r="r" b="b"/>
            <a:pathLst>
              <a:path w="2705100" h="1419225">
                <a:moveTo>
                  <a:pt x="114304" y="0"/>
                </a:moveTo>
                <a:lnTo>
                  <a:pt x="2590796" y="0"/>
                </a:lnTo>
                <a:cubicBezTo>
                  <a:pt x="2653924" y="0"/>
                  <a:pt x="2705100" y="51176"/>
                  <a:pt x="2705100" y="114304"/>
                </a:cubicBezTo>
                <a:lnTo>
                  <a:pt x="2705100" y="1304921"/>
                </a:lnTo>
                <a:cubicBezTo>
                  <a:pt x="2705100" y="1368049"/>
                  <a:pt x="2653924" y="1419225"/>
                  <a:pt x="2590796" y="1419225"/>
                </a:cubicBezTo>
                <a:lnTo>
                  <a:pt x="114304" y="1419225"/>
                </a:lnTo>
                <a:cubicBezTo>
                  <a:pt x="51176" y="1419225"/>
                  <a:pt x="0" y="1368049"/>
                  <a:pt x="0" y="130492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2">
                  <a:alpha val="20000"/>
                </a:srgbClr>
              </a:gs>
              <a:gs pos="100000">
                <a:srgbClr val="4A6C82">
                  <a:alpha val="5000"/>
                </a:srgbClr>
              </a:gs>
            </a:gsLst>
            <a:lin ang="2700000" scaled="1"/>
          </a:gra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6975" y="1781175"/>
            <a:ext cx="2543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53,628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8413" y="2314575"/>
            <a:ext cx="240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 Invoices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7938" y="2619375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 groups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01138" y="1585913"/>
            <a:ext cx="2705100" cy="1419225"/>
          </a:xfrm>
          <a:custGeom>
            <a:avLst/>
            <a:gdLst/>
            <a:ahLst/>
            <a:cxnLst/>
            <a:rect l="l" t="t" r="r" b="b"/>
            <a:pathLst>
              <a:path w="2705100" h="1419225">
                <a:moveTo>
                  <a:pt x="114304" y="0"/>
                </a:moveTo>
                <a:lnTo>
                  <a:pt x="2590796" y="0"/>
                </a:lnTo>
                <a:cubicBezTo>
                  <a:pt x="2653924" y="0"/>
                  <a:pt x="2705100" y="51176"/>
                  <a:pt x="2705100" y="114304"/>
                </a:cubicBezTo>
                <a:lnTo>
                  <a:pt x="2705100" y="1304921"/>
                </a:lnTo>
                <a:cubicBezTo>
                  <a:pt x="2705100" y="1368049"/>
                  <a:pt x="2653924" y="1419225"/>
                  <a:pt x="2590796" y="1419225"/>
                </a:cubicBezTo>
                <a:lnTo>
                  <a:pt x="114304" y="1419225"/>
                </a:lnTo>
                <a:cubicBezTo>
                  <a:pt x="51176" y="1419225"/>
                  <a:pt x="0" y="1368049"/>
                  <a:pt x="0" y="130492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2">
                  <a:alpha val="20000"/>
                </a:srgbClr>
              </a:gs>
              <a:gs pos="100000">
                <a:srgbClr val="4A6C82">
                  <a:alpha val="5000"/>
                </a:srgbClr>
              </a:gs>
            </a:gsLst>
            <a:lin ang="2700000" scaled="1"/>
          </a:gra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2100" y="1781175"/>
            <a:ext cx="2543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7.55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53538" y="2314575"/>
            <a:ext cx="240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Transactions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63063" y="2619375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 customer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5763" y="3243263"/>
            <a:ext cx="5591175" cy="3362325"/>
          </a:xfrm>
          <a:custGeom>
            <a:avLst/>
            <a:gdLst/>
            <a:ahLst/>
            <a:cxnLst/>
            <a:rect l="l" t="t" r="r" b="b"/>
            <a:pathLst>
              <a:path w="5591175" h="3362325">
                <a:moveTo>
                  <a:pt x="114285" y="0"/>
                </a:moveTo>
                <a:lnTo>
                  <a:pt x="5476890" y="0"/>
                </a:lnTo>
                <a:cubicBezTo>
                  <a:pt x="5540008" y="0"/>
                  <a:pt x="5591175" y="51167"/>
                  <a:pt x="5591175" y="114285"/>
                </a:cubicBezTo>
                <a:lnTo>
                  <a:pt x="5591175" y="3248040"/>
                </a:lnTo>
                <a:cubicBezTo>
                  <a:pt x="5591175" y="3311158"/>
                  <a:pt x="5540008" y="3362325"/>
                  <a:pt x="5476890" y="3362325"/>
                </a:cubicBezTo>
                <a:lnTo>
                  <a:pt x="114285" y="3362325"/>
                </a:lnTo>
                <a:cubicBezTo>
                  <a:pt x="51167" y="3362325"/>
                  <a:pt x="0" y="3311158"/>
                  <a:pt x="0" y="3248040"/>
                </a:cubicBezTo>
                <a:lnTo>
                  <a:pt x="0" y="114285"/>
                </a:lnTo>
                <a:cubicBezTo>
                  <a:pt x="0" y="51210"/>
                  <a:pt x="51210" y="0"/>
                  <a:pt x="114285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3888" y="34766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4" name="Text 22"/>
          <p:cNvSpPr/>
          <p:nvPr/>
        </p:nvSpPr>
        <p:spPr>
          <a:xfrm>
            <a:off x="981075" y="3438525"/>
            <a:ext cx="1638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Coverage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1025" y="3895725"/>
            <a:ext cx="5200650" cy="495300"/>
          </a:xfrm>
          <a:custGeom>
            <a:avLst/>
            <a:gdLst/>
            <a:ahLst/>
            <a:cxnLst/>
            <a:rect l="l" t="t" r="r" b="b"/>
            <a:pathLst>
              <a:path w="5200650" h="4953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419098"/>
                </a:lnTo>
                <a:cubicBezTo>
                  <a:pt x="5200650" y="461183"/>
                  <a:pt x="5166533" y="495300"/>
                  <a:pt x="512444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95325" y="4029075"/>
            <a:ext cx="733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Date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87801" y="4010025"/>
            <a:ext cx="96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 1, 2009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81025" y="4505325"/>
            <a:ext cx="5200650" cy="495300"/>
          </a:xfrm>
          <a:custGeom>
            <a:avLst/>
            <a:gdLst/>
            <a:ahLst/>
            <a:cxnLst/>
            <a:rect l="l" t="t" r="r" b="b"/>
            <a:pathLst>
              <a:path w="5200650" h="495300">
                <a:moveTo>
                  <a:pt x="76202" y="0"/>
                </a:moveTo>
                <a:lnTo>
                  <a:pt x="5124448" y="0"/>
                </a:lnTo>
                <a:cubicBezTo>
                  <a:pt x="5166533" y="0"/>
                  <a:pt x="5200650" y="34117"/>
                  <a:pt x="5200650" y="76202"/>
                </a:cubicBezTo>
                <a:lnTo>
                  <a:pt x="5200650" y="419098"/>
                </a:lnTo>
                <a:cubicBezTo>
                  <a:pt x="5200650" y="461183"/>
                  <a:pt x="5166533" y="495300"/>
                  <a:pt x="512444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95325" y="4638675"/>
            <a:ext cx="676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 Date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44653" y="4619625"/>
            <a:ext cx="904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 9, 2011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85788" y="5119688"/>
            <a:ext cx="5191125" cy="504825"/>
          </a:xfrm>
          <a:custGeom>
            <a:avLst/>
            <a:gdLst/>
            <a:ahLst/>
            <a:cxnLst/>
            <a:rect l="l" t="t" r="r" b="b"/>
            <a:pathLst>
              <a:path w="5191125" h="504825">
                <a:moveTo>
                  <a:pt x="76198" y="0"/>
                </a:moveTo>
                <a:lnTo>
                  <a:pt x="5114927" y="0"/>
                </a:lnTo>
                <a:cubicBezTo>
                  <a:pt x="5157010" y="0"/>
                  <a:pt x="5191125" y="34115"/>
                  <a:pt x="5191125" y="76198"/>
                </a:cubicBezTo>
                <a:lnTo>
                  <a:pt x="5191125" y="428627"/>
                </a:lnTo>
                <a:cubicBezTo>
                  <a:pt x="5191125" y="470710"/>
                  <a:pt x="5157010" y="504825"/>
                  <a:pt x="5114927" y="504825"/>
                </a:cubicBezTo>
                <a:lnTo>
                  <a:pt x="76198" y="504825"/>
                </a:lnTo>
                <a:cubicBezTo>
                  <a:pt x="34115" y="504825"/>
                  <a:pt x="0" y="470710"/>
                  <a:pt x="0" y="42862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4850" y="5257800"/>
            <a:ext cx="1009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Duration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35600" y="5238750"/>
            <a:ext cx="70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~2 Years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15063" y="3243263"/>
            <a:ext cx="5591175" cy="3362325"/>
          </a:xfrm>
          <a:custGeom>
            <a:avLst/>
            <a:gdLst/>
            <a:ahLst/>
            <a:cxnLst/>
            <a:rect l="l" t="t" r="r" b="b"/>
            <a:pathLst>
              <a:path w="5591175" h="3362325">
                <a:moveTo>
                  <a:pt x="114285" y="0"/>
                </a:moveTo>
                <a:lnTo>
                  <a:pt x="5476890" y="0"/>
                </a:lnTo>
                <a:cubicBezTo>
                  <a:pt x="5540008" y="0"/>
                  <a:pt x="5591175" y="51167"/>
                  <a:pt x="5591175" y="114285"/>
                </a:cubicBezTo>
                <a:lnTo>
                  <a:pt x="5591175" y="3248040"/>
                </a:lnTo>
                <a:cubicBezTo>
                  <a:pt x="5591175" y="3311158"/>
                  <a:pt x="5540008" y="3362325"/>
                  <a:pt x="5476890" y="3362325"/>
                </a:cubicBezTo>
                <a:lnTo>
                  <a:pt x="114285" y="3362325"/>
                </a:lnTo>
                <a:cubicBezTo>
                  <a:pt x="51167" y="3362325"/>
                  <a:pt x="0" y="3311158"/>
                  <a:pt x="0" y="3248040"/>
                </a:cubicBezTo>
                <a:lnTo>
                  <a:pt x="0" y="114285"/>
                </a:lnTo>
                <a:cubicBezTo>
                  <a:pt x="0" y="51210"/>
                  <a:pt x="51210" y="0"/>
                  <a:pt x="114285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53188" y="34766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14300" y="71438"/>
                </a:moveTo>
                <a:lnTo>
                  <a:pt x="114300" y="114300"/>
                </a:lnTo>
                <a:lnTo>
                  <a:pt x="171450" y="114300"/>
                </a:lnTo>
                <a:lnTo>
                  <a:pt x="171450" y="71438"/>
                </a:lnTo>
                <a:lnTo>
                  <a:pt x="114300" y="71438"/>
                </a:lnTo>
                <a:close/>
                <a:moveTo>
                  <a:pt x="85725" y="71438"/>
                </a:moveTo>
                <a:lnTo>
                  <a:pt x="28575" y="71438"/>
                </a:lnTo>
                <a:lnTo>
                  <a:pt x="28575" y="114300"/>
                </a:lnTo>
                <a:lnTo>
                  <a:pt x="85725" y="114300"/>
                </a:lnTo>
                <a:lnTo>
                  <a:pt x="85725" y="71438"/>
                </a:lnTo>
                <a:close/>
                <a:moveTo>
                  <a:pt x="0" y="142875"/>
                </a:move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171450" y="14288"/>
                </a:lnTo>
                <a:cubicBezTo>
                  <a:pt x="187211" y="14288"/>
                  <a:pt x="200025" y="27102"/>
                  <a:pt x="200025" y="42863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142875"/>
                </a:lnTo>
                <a:close/>
                <a:moveTo>
                  <a:pt x="171450" y="142875"/>
                </a:moveTo>
                <a:lnTo>
                  <a:pt x="114300" y="142875"/>
                </a:lnTo>
                <a:lnTo>
                  <a:pt x="114300" y="185738"/>
                </a:lnTo>
                <a:lnTo>
                  <a:pt x="171450" y="185738"/>
                </a:lnTo>
                <a:lnTo>
                  <a:pt x="171450" y="142875"/>
                </a:lnTo>
                <a:close/>
                <a:moveTo>
                  <a:pt x="85725" y="185738"/>
                </a:moveTo>
                <a:lnTo>
                  <a:pt x="85725" y="142875"/>
                </a:lnTo>
                <a:lnTo>
                  <a:pt x="28575" y="142875"/>
                </a:lnTo>
                <a:lnTo>
                  <a:pt x="28575" y="185738"/>
                </a:lnTo>
                <a:lnTo>
                  <a:pt x="85725" y="185738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6" name="Text 34"/>
          <p:cNvSpPr/>
          <p:nvPr/>
        </p:nvSpPr>
        <p:spPr>
          <a:xfrm>
            <a:off x="6810375" y="3438525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Schema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10325" y="3895725"/>
            <a:ext cx="2562225" cy="571500"/>
          </a:xfrm>
          <a:custGeom>
            <a:avLst/>
            <a:gdLst/>
            <a:ahLst/>
            <a:cxnLst/>
            <a:rect l="l" t="t" r="r" b="b"/>
            <a:pathLst>
              <a:path w="2562225" h="571500">
                <a:moveTo>
                  <a:pt x="76198" y="0"/>
                </a:moveTo>
                <a:lnTo>
                  <a:pt x="2486027" y="0"/>
                </a:lnTo>
                <a:cubicBezTo>
                  <a:pt x="2528110" y="0"/>
                  <a:pt x="2562225" y="34115"/>
                  <a:pt x="2562225" y="76198"/>
                </a:cubicBezTo>
                <a:lnTo>
                  <a:pt x="2562225" y="495302"/>
                </a:lnTo>
                <a:cubicBezTo>
                  <a:pt x="2562225" y="537385"/>
                  <a:pt x="2528110" y="571500"/>
                  <a:pt x="24860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48425" y="3971925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Invoice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53188" y="4200525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9048750" y="3895725"/>
            <a:ext cx="2562225" cy="571500"/>
          </a:xfrm>
          <a:custGeom>
            <a:avLst/>
            <a:gdLst/>
            <a:ahLst/>
            <a:cxnLst/>
            <a:rect l="l" t="t" r="r" b="b"/>
            <a:pathLst>
              <a:path w="2562225" h="571500">
                <a:moveTo>
                  <a:pt x="76198" y="0"/>
                </a:moveTo>
                <a:lnTo>
                  <a:pt x="2486027" y="0"/>
                </a:lnTo>
                <a:cubicBezTo>
                  <a:pt x="2528110" y="0"/>
                  <a:pt x="2562225" y="34115"/>
                  <a:pt x="2562225" y="76198"/>
                </a:cubicBezTo>
                <a:lnTo>
                  <a:pt x="2562225" y="495302"/>
                </a:lnTo>
                <a:cubicBezTo>
                  <a:pt x="2562225" y="537385"/>
                  <a:pt x="2528110" y="571500"/>
                  <a:pt x="24860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086850" y="3971925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StockCode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091613" y="4200525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10325" y="4543425"/>
            <a:ext cx="2562225" cy="571500"/>
          </a:xfrm>
          <a:custGeom>
            <a:avLst/>
            <a:gdLst/>
            <a:ahLst/>
            <a:cxnLst/>
            <a:rect l="l" t="t" r="r" b="b"/>
            <a:pathLst>
              <a:path w="2562225" h="571500">
                <a:moveTo>
                  <a:pt x="76198" y="0"/>
                </a:moveTo>
                <a:lnTo>
                  <a:pt x="2486027" y="0"/>
                </a:lnTo>
                <a:cubicBezTo>
                  <a:pt x="2528110" y="0"/>
                  <a:pt x="2562225" y="34115"/>
                  <a:pt x="2562225" y="76198"/>
                </a:cubicBezTo>
                <a:lnTo>
                  <a:pt x="2562225" y="495302"/>
                </a:lnTo>
                <a:cubicBezTo>
                  <a:pt x="2562225" y="537385"/>
                  <a:pt x="2528110" y="571500"/>
                  <a:pt x="24860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448425" y="4619625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53188" y="4848225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9048750" y="4543425"/>
            <a:ext cx="2562225" cy="571500"/>
          </a:xfrm>
          <a:custGeom>
            <a:avLst/>
            <a:gdLst/>
            <a:ahLst/>
            <a:cxnLst/>
            <a:rect l="l" t="t" r="r" b="b"/>
            <a:pathLst>
              <a:path w="2562225" h="571500">
                <a:moveTo>
                  <a:pt x="76198" y="0"/>
                </a:moveTo>
                <a:lnTo>
                  <a:pt x="2486027" y="0"/>
                </a:lnTo>
                <a:cubicBezTo>
                  <a:pt x="2528110" y="0"/>
                  <a:pt x="2562225" y="34115"/>
                  <a:pt x="2562225" y="76198"/>
                </a:cubicBezTo>
                <a:lnTo>
                  <a:pt x="2562225" y="495302"/>
                </a:lnTo>
                <a:cubicBezTo>
                  <a:pt x="2562225" y="537385"/>
                  <a:pt x="2528110" y="571500"/>
                  <a:pt x="24860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9086850" y="4619625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Quantity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091613" y="4848225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int64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10325" y="5191125"/>
            <a:ext cx="2562225" cy="571500"/>
          </a:xfrm>
          <a:custGeom>
            <a:avLst/>
            <a:gdLst/>
            <a:ahLst/>
            <a:cxnLst/>
            <a:rect l="l" t="t" r="r" b="b"/>
            <a:pathLst>
              <a:path w="2562225" h="571500">
                <a:moveTo>
                  <a:pt x="76198" y="0"/>
                </a:moveTo>
                <a:lnTo>
                  <a:pt x="2486027" y="0"/>
                </a:lnTo>
                <a:cubicBezTo>
                  <a:pt x="2528110" y="0"/>
                  <a:pt x="2562225" y="34115"/>
                  <a:pt x="2562225" y="76198"/>
                </a:cubicBezTo>
                <a:lnTo>
                  <a:pt x="2562225" y="495302"/>
                </a:lnTo>
                <a:cubicBezTo>
                  <a:pt x="2562225" y="537385"/>
                  <a:pt x="2528110" y="571500"/>
                  <a:pt x="24860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448425" y="5267325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InvoiceDate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53188" y="5495925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048750" y="5191125"/>
            <a:ext cx="2562225" cy="571500"/>
          </a:xfrm>
          <a:custGeom>
            <a:avLst/>
            <a:gdLst/>
            <a:ahLst/>
            <a:cxnLst/>
            <a:rect l="l" t="t" r="r" b="b"/>
            <a:pathLst>
              <a:path w="2562225" h="571500">
                <a:moveTo>
                  <a:pt x="76198" y="0"/>
                </a:moveTo>
                <a:lnTo>
                  <a:pt x="2486027" y="0"/>
                </a:lnTo>
                <a:cubicBezTo>
                  <a:pt x="2528110" y="0"/>
                  <a:pt x="2562225" y="34115"/>
                  <a:pt x="2562225" y="76198"/>
                </a:cubicBezTo>
                <a:lnTo>
                  <a:pt x="2562225" y="495302"/>
                </a:lnTo>
                <a:cubicBezTo>
                  <a:pt x="2562225" y="537385"/>
                  <a:pt x="2528110" y="571500"/>
                  <a:pt x="24860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9086850" y="5267325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Price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091613" y="5495925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float64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410325" y="5838825"/>
            <a:ext cx="2562225" cy="571500"/>
          </a:xfrm>
          <a:custGeom>
            <a:avLst/>
            <a:gdLst/>
            <a:ahLst/>
            <a:cxnLst/>
            <a:rect l="l" t="t" r="r" b="b"/>
            <a:pathLst>
              <a:path w="2562225" h="571500">
                <a:moveTo>
                  <a:pt x="76198" y="0"/>
                </a:moveTo>
                <a:lnTo>
                  <a:pt x="2486027" y="0"/>
                </a:lnTo>
                <a:cubicBezTo>
                  <a:pt x="2528110" y="0"/>
                  <a:pt x="2562225" y="34115"/>
                  <a:pt x="2562225" y="76198"/>
                </a:cubicBezTo>
                <a:lnTo>
                  <a:pt x="2562225" y="495302"/>
                </a:lnTo>
                <a:cubicBezTo>
                  <a:pt x="2562225" y="537385"/>
                  <a:pt x="2528110" y="571500"/>
                  <a:pt x="24860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448425" y="5915025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CustomerID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453188" y="6143625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float64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048750" y="5838825"/>
            <a:ext cx="2562225" cy="571500"/>
          </a:xfrm>
          <a:custGeom>
            <a:avLst/>
            <a:gdLst/>
            <a:ahLst/>
            <a:cxnLst/>
            <a:rect l="l" t="t" r="r" b="b"/>
            <a:pathLst>
              <a:path w="2562225" h="571500">
                <a:moveTo>
                  <a:pt x="76198" y="0"/>
                </a:moveTo>
                <a:lnTo>
                  <a:pt x="2486027" y="0"/>
                </a:lnTo>
                <a:cubicBezTo>
                  <a:pt x="2528110" y="0"/>
                  <a:pt x="2562225" y="34115"/>
                  <a:pt x="2562225" y="76198"/>
                </a:cubicBezTo>
                <a:lnTo>
                  <a:pt x="2562225" y="495302"/>
                </a:lnTo>
                <a:cubicBezTo>
                  <a:pt x="2562225" y="537385"/>
                  <a:pt x="2528110" y="571500"/>
                  <a:pt x="24860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9086850" y="5915025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Country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091613" y="6143625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Object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1819275" cy="314325"/>
          </a:xfrm>
          <a:custGeom>
            <a:avLst/>
            <a:gdLst/>
            <a:ahLst/>
            <a:cxnLst/>
            <a:rect l="l" t="t" r="r" b="b"/>
            <a:pathLst>
              <a:path w="1819275" h="314325">
                <a:moveTo>
                  <a:pt x="76199" y="0"/>
                </a:moveTo>
                <a:lnTo>
                  <a:pt x="1743076" y="0"/>
                </a:lnTo>
                <a:cubicBezTo>
                  <a:pt x="1785160" y="0"/>
                  <a:pt x="1819275" y="34115"/>
                  <a:pt x="1819275" y="76199"/>
                </a:cubicBezTo>
                <a:lnTo>
                  <a:pt x="1819275" y="238126"/>
                </a:lnTo>
                <a:cubicBezTo>
                  <a:pt x="1819275" y="280210"/>
                  <a:pt x="1785160" y="314325"/>
                  <a:pt x="1743076" y="314325"/>
                </a:cubicBezTo>
                <a:lnTo>
                  <a:pt x="76199" y="314325"/>
                </a:lnTo>
                <a:cubicBezTo>
                  <a:pt x="34115" y="314325"/>
                  <a:pt x="0" y="280210"/>
                  <a:pt x="0" y="238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2925" y="457200"/>
            <a:ext cx="15829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PREPARATION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191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Quality &amp; Preprocessing Pipeline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144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2898233" y="1519147"/>
            <a:ext cx="6566983" cy="4863546"/>
          </a:xfrm>
          <a:custGeom>
            <a:avLst/>
            <a:gdLst/>
            <a:ahLst/>
            <a:cxnLst/>
            <a:rect l="l" t="t" r="r" b="b"/>
            <a:pathLst>
              <a:path w="6566983" h="2929120">
                <a:moveTo>
                  <a:pt x="169483" y="0"/>
                </a:moveTo>
                <a:lnTo>
                  <a:pt x="6397500" y="0"/>
                </a:lnTo>
                <a:cubicBezTo>
                  <a:pt x="6491103" y="0"/>
                  <a:pt x="6566983" y="52286"/>
                  <a:pt x="6566983" y="116784"/>
                </a:cubicBezTo>
                <a:lnTo>
                  <a:pt x="6566983" y="2812336"/>
                </a:lnTo>
                <a:cubicBezTo>
                  <a:pt x="6566983" y="2876834"/>
                  <a:pt x="6491103" y="2929120"/>
                  <a:pt x="6397500" y="2929120"/>
                </a:cubicBezTo>
                <a:lnTo>
                  <a:pt x="169483" y="2929120"/>
                </a:lnTo>
                <a:cubicBezTo>
                  <a:pt x="75880" y="2929120"/>
                  <a:pt x="0" y="2876834"/>
                  <a:pt x="0" y="2812336"/>
                </a:cubicBezTo>
                <a:lnTo>
                  <a:pt x="0" y="116784"/>
                </a:lnTo>
                <a:cubicBezTo>
                  <a:pt x="0" y="52329"/>
                  <a:pt x="75943" y="0"/>
                  <a:pt x="16948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2">
                  <a:alpha val="20000"/>
                </a:srgbClr>
              </a:gs>
              <a:gs pos="100000">
                <a:srgbClr val="4A6C82">
                  <a:alpha val="5000"/>
                </a:srgbClr>
              </a:gs>
            </a:gsLst>
            <a:lin ang="2700000" scaled="1"/>
          </a:gra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166642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28575"/>
                </a:moveTo>
                <a:cubicBezTo>
                  <a:pt x="8528" y="28575"/>
                  <a:pt x="3304" y="32058"/>
                  <a:pt x="1072" y="37415"/>
                </a:cubicBezTo>
                <a:cubicBezTo>
                  <a:pt x="-1161" y="42773"/>
                  <a:pt x="89" y="48890"/>
                  <a:pt x="4197" y="52953"/>
                </a:cubicBezTo>
                <a:lnTo>
                  <a:pt x="85725" y="134526"/>
                </a:lnTo>
                <a:lnTo>
                  <a:pt x="85725" y="185738"/>
                </a:lnTo>
                <a:cubicBezTo>
                  <a:pt x="85725" y="189533"/>
                  <a:pt x="87243" y="193149"/>
                  <a:pt x="89922" y="195828"/>
                </a:cubicBezTo>
                <a:lnTo>
                  <a:pt x="118497" y="224403"/>
                </a:lnTo>
                <a:cubicBezTo>
                  <a:pt x="122605" y="228511"/>
                  <a:pt x="128721" y="229716"/>
                  <a:pt x="134079" y="227484"/>
                </a:cubicBezTo>
                <a:cubicBezTo>
                  <a:pt x="139437" y="225251"/>
                  <a:pt x="142875" y="220072"/>
                  <a:pt x="142875" y="214313"/>
                </a:cubicBezTo>
                <a:lnTo>
                  <a:pt x="142875" y="134526"/>
                </a:lnTo>
                <a:lnTo>
                  <a:pt x="224403" y="52998"/>
                </a:lnTo>
                <a:cubicBezTo>
                  <a:pt x="228511" y="48890"/>
                  <a:pt x="229716" y="42773"/>
                  <a:pt x="227484" y="37415"/>
                </a:cubicBezTo>
                <a:cubicBezTo>
                  <a:pt x="225251" y="32058"/>
                  <a:pt x="220072" y="28575"/>
                  <a:pt x="214313" y="28575"/>
                </a:cubicBezTo>
                <a:lnTo>
                  <a:pt x="14288" y="2857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3571875" y="1628327"/>
            <a:ext cx="1628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Cleaning Steps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33351" y="5648325"/>
            <a:ext cx="1898446" cy="602244"/>
          </a:xfrm>
          <a:custGeom>
            <a:avLst/>
            <a:gdLst/>
            <a:ahLst/>
            <a:cxnLst/>
            <a:rect l="l" t="t" r="r" b="b"/>
            <a:pathLst>
              <a:path w="4429125" h="809625">
                <a:moveTo>
                  <a:pt x="114303" y="0"/>
                </a:moveTo>
                <a:lnTo>
                  <a:pt x="4314822" y="0"/>
                </a:lnTo>
                <a:cubicBezTo>
                  <a:pt x="4377908" y="0"/>
                  <a:pt x="4429125" y="51217"/>
                  <a:pt x="4429125" y="114303"/>
                </a:cubicBezTo>
                <a:lnTo>
                  <a:pt x="4429125" y="695322"/>
                </a:lnTo>
                <a:cubicBezTo>
                  <a:pt x="4429125" y="758408"/>
                  <a:pt x="4377908" y="809625"/>
                  <a:pt x="431482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4A6C82">
                  <a:alpha val="10000"/>
                </a:srgbClr>
              </a:gs>
            </a:gsLst>
            <a:lin ang="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CB1011FA-0079-9053-A886-C212269E7BCE}"/>
              </a:ext>
            </a:extLst>
          </p:cNvPr>
          <p:cNvSpPr/>
          <p:nvPr/>
        </p:nvSpPr>
        <p:spPr>
          <a:xfrm>
            <a:off x="5222974" y="57816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3CF6F705-7700-4563-7D70-AA736B8610A5}"/>
              </a:ext>
            </a:extLst>
          </p:cNvPr>
          <p:cNvSpPr/>
          <p:nvPr/>
        </p:nvSpPr>
        <p:spPr>
          <a:xfrm>
            <a:off x="5580161" y="5648325"/>
            <a:ext cx="94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Usage</a:t>
            </a:r>
            <a:endParaRPr lang="en-US" sz="1600" dirty="0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05E10DA8-28EB-BD8C-E92D-6087F56C3BFB}"/>
              </a:ext>
            </a:extLst>
          </p:cNvPr>
          <p:cNvSpPr/>
          <p:nvPr/>
        </p:nvSpPr>
        <p:spPr>
          <a:xfrm>
            <a:off x="5580161" y="5838825"/>
            <a:ext cx="990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65.1+ MB</a:t>
            </a:r>
            <a:endParaRPr lang="en-US" sz="1600" dirty="0"/>
          </a:p>
        </p:txBody>
      </p:sp>
      <p:sp>
        <p:nvSpPr>
          <p:cNvPr id="36" name="Shape 19">
            <a:extLst>
              <a:ext uri="{FF2B5EF4-FFF2-40B4-BE49-F238E27FC236}">
                <a16:creationId xmlns:a16="http://schemas.microsoft.com/office/drawing/2014/main" id="{7D443AF5-AEC6-9F54-6A59-ED7BC476E2C6}"/>
              </a:ext>
            </a:extLst>
          </p:cNvPr>
          <p:cNvSpPr/>
          <p:nvPr/>
        </p:nvSpPr>
        <p:spPr>
          <a:xfrm>
            <a:off x="4674372" y="474953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1FCC5A50-B90E-FEB7-34D0-E59EC189F94C}"/>
              </a:ext>
            </a:extLst>
          </p:cNvPr>
          <p:cNvSpPr/>
          <p:nvPr/>
        </p:nvSpPr>
        <p:spPr>
          <a:xfrm>
            <a:off x="5093472" y="4749530"/>
            <a:ext cx="184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Created Revenue Feature</a:t>
            </a:r>
            <a:endParaRPr lang="en-US" sz="1600" dirty="0"/>
          </a:p>
        </p:txBody>
      </p:sp>
      <p:sp>
        <p:nvSpPr>
          <p:cNvPr id="38" name="Text 22">
            <a:extLst>
              <a:ext uri="{FF2B5EF4-FFF2-40B4-BE49-F238E27FC236}">
                <a16:creationId xmlns:a16="http://schemas.microsoft.com/office/drawing/2014/main" id="{C43584CB-B994-1C42-5C21-247638EC1093}"/>
              </a:ext>
            </a:extLst>
          </p:cNvPr>
          <p:cNvSpPr/>
          <p:nvPr/>
        </p:nvSpPr>
        <p:spPr>
          <a:xfrm>
            <a:off x="5093472" y="4978130"/>
            <a:ext cx="1838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= Quantity × UnitPrice</a:t>
            </a:r>
            <a:endParaRPr lang="en-US" sz="1600" dirty="0"/>
          </a:p>
        </p:txBody>
      </p:sp>
      <p:sp>
        <p:nvSpPr>
          <p:cNvPr id="39" name="Shape 20">
            <a:extLst>
              <a:ext uri="{FF2B5EF4-FFF2-40B4-BE49-F238E27FC236}">
                <a16:creationId xmlns:a16="http://schemas.microsoft.com/office/drawing/2014/main" id="{5C1FD9F1-6121-7BDE-46D1-B5DF1AA62394}"/>
              </a:ext>
            </a:extLst>
          </p:cNvPr>
          <p:cNvSpPr/>
          <p:nvPr/>
        </p:nvSpPr>
        <p:spPr>
          <a:xfrm>
            <a:off x="4760097" y="483770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19050"/>
                </a:moveTo>
                <a:cubicBezTo>
                  <a:pt x="76200" y="13781"/>
                  <a:pt x="71944" y="9525"/>
                  <a:pt x="66675" y="9525"/>
                </a:cubicBezTo>
                <a:cubicBezTo>
                  <a:pt x="61406" y="9525"/>
                  <a:pt x="57150" y="13781"/>
                  <a:pt x="57150" y="19050"/>
                </a:cubicBezTo>
                <a:lnTo>
                  <a:pt x="5715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57150" y="85725"/>
                </a:lnTo>
                <a:lnTo>
                  <a:pt x="57150" y="133350"/>
                </a:lnTo>
                <a:cubicBezTo>
                  <a:pt x="57150" y="138619"/>
                  <a:pt x="61406" y="142875"/>
                  <a:pt x="66675" y="142875"/>
                </a:cubicBezTo>
                <a:cubicBezTo>
                  <a:pt x="71944" y="142875"/>
                  <a:pt x="76200" y="138619"/>
                  <a:pt x="76200" y="133350"/>
                </a:cubicBezTo>
                <a:lnTo>
                  <a:pt x="76200" y="85725"/>
                </a:lnTo>
                <a:lnTo>
                  <a:pt x="123825" y="85725"/>
                </a:lnTo>
                <a:cubicBezTo>
                  <a:pt x="129094" y="85725"/>
                  <a:pt x="133350" y="81469"/>
                  <a:pt x="133350" y="76200"/>
                </a:cubicBezTo>
                <a:cubicBezTo>
                  <a:pt x="133350" y="70931"/>
                  <a:pt x="129094" y="66675"/>
                  <a:pt x="123825" y="66675"/>
                </a:cubicBezTo>
                <a:lnTo>
                  <a:pt x="76200" y="66675"/>
                </a:lnTo>
                <a:lnTo>
                  <a:pt x="76200" y="1905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2" name="Shape 11">
            <a:extLst>
              <a:ext uri="{FF2B5EF4-FFF2-40B4-BE49-F238E27FC236}">
                <a16:creationId xmlns:a16="http://schemas.microsoft.com/office/drawing/2014/main" id="{60403E25-D29C-D3AF-9D06-4FF7862A4704}"/>
              </a:ext>
            </a:extLst>
          </p:cNvPr>
          <p:cNvSpPr/>
          <p:nvPr/>
        </p:nvSpPr>
        <p:spPr>
          <a:xfrm>
            <a:off x="4678948" y="399071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442EC28F-AA27-7D04-7503-1325D0FDE931}"/>
              </a:ext>
            </a:extLst>
          </p:cNvPr>
          <p:cNvSpPr/>
          <p:nvPr/>
        </p:nvSpPr>
        <p:spPr>
          <a:xfrm>
            <a:off x="5098048" y="3990711"/>
            <a:ext cx="1800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Removed Negative Values</a:t>
            </a:r>
            <a:endParaRPr lang="en-US" sz="1600" dirty="0"/>
          </a:p>
        </p:txBody>
      </p:sp>
      <p:sp>
        <p:nvSpPr>
          <p:cNvPr id="54" name="Text 14">
            <a:extLst>
              <a:ext uri="{FF2B5EF4-FFF2-40B4-BE49-F238E27FC236}">
                <a16:creationId xmlns:a16="http://schemas.microsoft.com/office/drawing/2014/main" id="{58E7185C-6B36-867A-140D-D1A837ABE89B}"/>
              </a:ext>
            </a:extLst>
          </p:cNvPr>
          <p:cNvSpPr/>
          <p:nvPr/>
        </p:nvSpPr>
        <p:spPr>
          <a:xfrm>
            <a:off x="5098048" y="4219311"/>
            <a:ext cx="1790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Quantity &amp; price validation</a:t>
            </a:r>
            <a:endParaRPr lang="en-US" sz="1600" dirty="0"/>
          </a:p>
        </p:txBody>
      </p:sp>
      <p:sp>
        <p:nvSpPr>
          <p:cNvPr id="55" name="Shape 12">
            <a:extLst>
              <a:ext uri="{FF2B5EF4-FFF2-40B4-BE49-F238E27FC236}">
                <a16:creationId xmlns:a16="http://schemas.microsoft.com/office/drawing/2014/main" id="{FF415107-076B-AB6A-F40E-C4CFD49BBED1}"/>
              </a:ext>
            </a:extLst>
          </p:cNvPr>
          <p:cNvSpPr/>
          <p:nvPr/>
        </p:nvSpPr>
        <p:spPr>
          <a:xfrm>
            <a:off x="4769622" y="4066911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7FC44411-6751-0445-A653-121F10745B0D}"/>
              </a:ext>
            </a:extLst>
          </p:cNvPr>
          <p:cNvSpPr/>
          <p:nvPr/>
        </p:nvSpPr>
        <p:spPr>
          <a:xfrm>
            <a:off x="4669883" y="323189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284836F9-B113-2AFD-065B-3EEF44C737E9}"/>
              </a:ext>
            </a:extLst>
          </p:cNvPr>
          <p:cNvSpPr/>
          <p:nvPr/>
        </p:nvSpPr>
        <p:spPr>
          <a:xfrm>
            <a:off x="4765133" y="3308092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EC3FA8B1-FB48-1D6B-6A03-042AB00F2B15}"/>
              </a:ext>
            </a:extLst>
          </p:cNvPr>
          <p:cNvSpPr/>
          <p:nvPr/>
        </p:nvSpPr>
        <p:spPr>
          <a:xfrm>
            <a:off x="5088983" y="3231892"/>
            <a:ext cx="220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Dropped Anonymous Purchases</a:t>
            </a:r>
            <a:endParaRPr lang="en-US" sz="1600" dirty="0"/>
          </a:p>
        </p:txBody>
      </p:sp>
      <p:sp>
        <p:nvSpPr>
          <p:cNvPr id="59" name="Text 18">
            <a:extLst>
              <a:ext uri="{FF2B5EF4-FFF2-40B4-BE49-F238E27FC236}">
                <a16:creationId xmlns:a16="http://schemas.microsoft.com/office/drawing/2014/main" id="{1B5DDE8E-CF20-D5AA-A1F3-DE4758442897}"/>
              </a:ext>
            </a:extLst>
          </p:cNvPr>
          <p:cNvSpPr/>
          <p:nvPr/>
        </p:nvSpPr>
        <p:spPr>
          <a:xfrm>
            <a:off x="5088983" y="3460492"/>
            <a:ext cx="219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243K missing Customer IDs</a:t>
            </a:r>
            <a:endParaRPr lang="en-US" sz="1600" dirty="0"/>
          </a:p>
        </p:txBody>
      </p:sp>
      <p:sp>
        <p:nvSpPr>
          <p:cNvPr id="60" name="Shape 7">
            <a:extLst>
              <a:ext uri="{FF2B5EF4-FFF2-40B4-BE49-F238E27FC236}">
                <a16:creationId xmlns:a16="http://schemas.microsoft.com/office/drawing/2014/main" id="{93302BA7-3BCA-6EE9-C1D8-1D583255382E}"/>
              </a:ext>
            </a:extLst>
          </p:cNvPr>
          <p:cNvSpPr/>
          <p:nvPr/>
        </p:nvSpPr>
        <p:spPr>
          <a:xfrm>
            <a:off x="4669883" y="250016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61" name="Shape 8">
            <a:extLst>
              <a:ext uri="{FF2B5EF4-FFF2-40B4-BE49-F238E27FC236}">
                <a16:creationId xmlns:a16="http://schemas.microsoft.com/office/drawing/2014/main" id="{FF337D94-02D6-341E-0F39-FA07AC6FCD5A}"/>
              </a:ext>
            </a:extLst>
          </p:cNvPr>
          <p:cNvSpPr/>
          <p:nvPr/>
        </p:nvSpPr>
        <p:spPr>
          <a:xfrm>
            <a:off x="4765133" y="257636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B26829C1-A0D2-D8C3-DF50-500BB2ECD526}"/>
              </a:ext>
            </a:extLst>
          </p:cNvPr>
          <p:cNvSpPr/>
          <p:nvPr/>
        </p:nvSpPr>
        <p:spPr>
          <a:xfrm>
            <a:off x="5088983" y="2500165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Removed Cancelled Invoices</a:t>
            </a:r>
            <a:endParaRPr lang="en-US" sz="1600" dirty="0"/>
          </a:p>
        </p:txBody>
      </p:sp>
      <p:sp>
        <p:nvSpPr>
          <p:cNvPr id="63" name="Text 10">
            <a:extLst>
              <a:ext uri="{FF2B5EF4-FFF2-40B4-BE49-F238E27FC236}">
                <a16:creationId xmlns:a16="http://schemas.microsoft.com/office/drawing/2014/main" id="{DC83DA71-6F35-4EAB-2CD2-AB2D8C3A695E}"/>
              </a:ext>
            </a:extLst>
          </p:cNvPr>
          <p:cNvSpPr/>
          <p:nvPr/>
        </p:nvSpPr>
        <p:spPr>
          <a:xfrm>
            <a:off x="5088983" y="2728765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Eliminated returned orders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1514475" cy="314325"/>
          </a:xfrm>
          <a:custGeom>
            <a:avLst/>
            <a:gdLst/>
            <a:ahLst/>
            <a:cxnLst/>
            <a:rect l="l" t="t" r="r" b="b"/>
            <a:pathLst>
              <a:path w="1514475" h="314325">
                <a:moveTo>
                  <a:pt x="76199" y="0"/>
                </a:moveTo>
                <a:lnTo>
                  <a:pt x="1438276" y="0"/>
                </a:lnTo>
                <a:cubicBezTo>
                  <a:pt x="1480360" y="0"/>
                  <a:pt x="1514475" y="34115"/>
                  <a:pt x="1514475" y="76199"/>
                </a:cubicBezTo>
                <a:lnTo>
                  <a:pt x="1514475" y="238126"/>
                </a:lnTo>
                <a:cubicBezTo>
                  <a:pt x="1514475" y="280210"/>
                  <a:pt x="1480360" y="314325"/>
                  <a:pt x="1438276" y="314325"/>
                </a:cubicBezTo>
                <a:lnTo>
                  <a:pt x="76199" y="314325"/>
                </a:lnTo>
                <a:cubicBezTo>
                  <a:pt x="34115" y="314325"/>
                  <a:pt x="0" y="280210"/>
                  <a:pt x="0" y="238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2925" y="457200"/>
            <a:ext cx="12723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191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Time-Based Churn Definition: Leakage-Free Approach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144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5763" y="1585913"/>
            <a:ext cx="5553075" cy="2867025"/>
          </a:xfrm>
          <a:custGeom>
            <a:avLst/>
            <a:gdLst/>
            <a:ahLst/>
            <a:cxnLst/>
            <a:rect l="l" t="t" r="r" b="b"/>
            <a:pathLst>
              <a:path w="5553075" h="2867025">
                <a:moveTo>
                  <a:pt x="114308" y="0"/>
                </a:moveTo>
                <a:lnTo>
                  <a:pt x="5438767" y="0"/>
                </a:lnTo>
                <a:cubicBezTo>
                  <a:pt x="5501897" y="0"/>
                  <a:pt x="5553075" y="51178"/>
                  <a:pt x="5553075" y="114308"/>
                </a:cubicBezTo>
                <a:lnTo>
                  <a:pt x="5553075" y="2752717"/>
                </a:lnTo>
                <a:cubicBezTo>
                  <a:pt x="5553075" y="2815847"/>
                  <a:pt x="5501897" y="2867025"/>
                  <a:pt x="5438767" y="2867025"/>
                </a:cubicBezTo>
                <a:lnTo>
                  <a:pt x="114308" y="2867025"/>
                </a:lnTo>
                <a:cubicBezTo>
                  <a:pt x="51178" y="2867025"/>
                  <a:pt x="0" y="2815847"/>
                  <a:pt x="0" y="2752717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2">
                  <a:alpha val="20000"/>
                </a:srgbClr>
              </a:gs>
              <a:gs pos="100000">
                <a:srgbClr val="4A6C82">
                  <a:alpha val="5000"/>
                </a:srgbClr>
              </a:gs>
            </a:gsLst>
            <a:lin ang="2700000" scaled="1"/>
          </a:gra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5084" y="1828800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71438" y="0"/>
                </a:moveTo>
                <a:cubicBezTo>
                  <a:pt x="81316" y="0"/>
                  <a:pt x="89297" y="7981"/>
                  <a:pt x="89297" y="17859"/>
                </a:cubicBezTo>
                <a:lnTo>
                  <a:pt x="89297" y="35719"/>
                </a:lnTo>
                <a:lnTo>
                  <a:pt x="160734" y="35719"/>
                </a:lnTo>
                <a:lnTo>
                  <a:pt x="160734" y="17859"/>
                </a:lnTo>
                <a:cubicBezTo>
                  <a:pt x="160734" y="7981"/>
                  <a:pt x="168715" y="0"/>
                  <a:pt x="178594" y="0"/>
                </a:cubicBezTo>
                <a:cubicBezTo>
                  <a:pt x="188472" y="0"/>
                  <a:pt x="196453" y="7981"/>
                  <a:pt x="196453" y="17859"/>
                </a:cubicBezTo>
                <a:lnTo>
                  <a:pt x="196453" y="35719"/>
                </a:lnTo>
                <a:lnTo>
                  <a:pt x="214313" y="35719"/>
                </a:lnTo>
                <a:cubicBezTo>
                  <a:pt x="234014" y="35719"/>
                  <a:pt x="250031" y="51736"/>
                  <a:pt x="250031" y="71438"/>
                </a:cubicBezTo>
                <a:lnTo>
                  <a:pt x="250031" y="232172"/>
                </a:lnTo>
                <a:cubicBezTo>
                  <a:pt x="250031" y="251873"/>
                  <a:pt x="234014" y="267891"/>
                  <a:pt x="214313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lnTo>
                  <a:pt x="0" y="71438"/>
                </a:lnTo>
                <a:cubicBezTo>
                  <a:pt x="0" y="51736"/>
                  <a:pt x="16018" y="35719"/>
                  <a:pt x="35719" y="35719"/>
                </a:cubicBezTo>
                <a:lnTo>
                  <a:pt x="53578" y="35719"/>
                </a:lnTo>
                <a:lnTo>
                  <a:pt x="53578" y="17859"/>
                </a:lnTo>
                <a:cubicBezTo>
                  <a:pt x="53578" y="7981"/>
                  <a:pt x="61559" y="0"/>
                  <a:pt x="71438" y="0"/>
                </a:cubicBezTo>
                <a:close/>
                <a:moveTo>
                  <a:pt x="172120" y="127639"/>
                </a:moveTo>
                <a:cubicBezTo>
                  <a:pt x="176026" y="121388"/>
                  <a:pt x="174129" y="113128"/>
                  <a:pt x="167878" y="109165"/>
                </a:cubicBezTo>
                <a:cubicBezTo>
                  <a:pt x="161627" y="105203"/>
                  <a:pt x="153367" y="107156"/>
                  <a:pt x="149405" y="113407"/>
                </a:cubicBezTo>
                <a:lnTo>
                  <a:pt x="115137" y="168269"/>
                </a:lnTo>
                <a:lnTo>
                  <a:pt x="100068" y="148177"/>
                </a:lnTo>
                <a:cubicBezTo>
                  <a:pt x="95603" y="142261"/>
                  <a:pt x="87232" y="141033"/>
                  <a:pt x="81316" y="145498"/>
                </a:cubicBezTo>
                <a:cubicBezTo>
                  <a:pt x="75400" y="149963"/>
                  <a:pt x="74172" y="158335"/>
                  <a:pt x="78637" y="164250"/>
                </a:cubicBezTo>
                <a:lnTo>
                  <a:pt x="105426" y="199969"/>
                </a:lnTo>
                <a:cubicBezTo>
                  <a:pt x="108049" y="203485"/>
                  <a:pt x="112291" y="205494"/>
                  <a:pt x="116700" y="205327"/>
                </a:cubicBezTo>
                <a:cubicBezTo>
                  <a:pt x="121109" y="205160"/>
                  <a:pt x="125127" y="202816"/>
                  <a:pt x="127471" y="199020"/>
                </a:cubicBezTo>
                <a:lnTo>
                  <a:pt x="172120" y="127583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8" name="Text 6"/>
          <p:cNvSpPr/>
          <p:nvPr/>
        </p:nvSpPr>
        <p:spPr>
          <a:xfrm>
            <a:off x="1090613" y="1819275"/>
            <a:ext cx="2933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Window Configuration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125" y="2314575"/>
            <a:ext cx="5086350" cy="876300"/>
          </a:xfrm>
          <a:custGeom>
            <a:avLst/>
            <a:gdLst/>
            <a:ahLst/>
            <a:cxnLst/>
            <a:rect l="l" t="t" r="r" b="b"/>
            <a:pathLst>
              <a:path w="5086350" h="876300">
                <a:moveTo>
                  <a:pt x="76203" y="0"/>
                </a:moveTo>
                <a:lnTo>
                  <a:pt x="5010147" y="0"/>
                </a:lnTo>
                <a:cubicBezTo>
                  <a:pt x="5052233" y="0"/>
                  <a:pt x="5086350" y="34117"/>
                  <a:pt x="5086350" y="76203"/>
                </a:cubicBezTo>
                <a:lnTo>
                  <a:pt x="5086350" y="800097"/>
                </a:lnTo>
                <a:cubicBezTo>
                  <a:pt x="5086350" y="842183"/>
                  <a:pt x="5052233" y="876300"/>
                  <a:pt x="501014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71525" y="2486025"/>
            <a:ext cx="933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Cutoff Date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25702" y="2466975"/>
            <a:ext cx="1238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2011-09-01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1525" y="2847975"/>
            <a:ext cx="484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 ends here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125" y="3343275"/>
            <a:ext cx="5086350" cy="876300"/>
          </a:xfrm>
          <a:custGeom>
            <a:avLst/>
            <a:gdLst/>
            <a:ahLst/>
            <a:cxnLst/>
            <a:rect l="l" t="t" r="r" b="b"/>
            <a:pathLst>
              <a:path w="5086350" h="876300">
                <a:moveTo>
                  <a:pt x="76203" y="0"/>
                </a:moveTo>
                <a:lnTo>
                  <a:pt x="5010147" y="0"/>
                </a:lnTo>
                <a:cubicBezTo>
                  <a:pt x="5052233" y="0"/>
                  <a:pt x="5086350" y="34117"/>
                  <a:pt x="5086350" y="76203"/>
                </a:cubicBezTo>
                <a:lnTo>
                  <a:pt x="5086350" y="800097"/>
                </a:lnTo>
                <a:cubicBezTo>
                  <a:pt x="5086350" y="842183"/>
                  <a:pt x="5052233" y="876300"/>
                  <a:pt x="5010147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71525" y="3514725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Prediction Window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28270" y="3495675"/>
            <a:ext cx="942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 Days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71525" y="3876675"/>
            <a:ext cx="484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period for churn label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5763" y="4652963"/>
            <a:ext cx="5553075" cy="1724025"/>
          </a:xfrm>
          <a:custGeom>
            <a:avLst/>
            <a:gdLst/>
            <a:ahLst/>
            <a:cxnLst/>
            <a:rect l="l" t="t" r="r" b="b"/>
            <a:pathLst>
              <a:path w="5553075" h="1724025">
                <a:moveTo>
                  <a:pt x="114303" y="0"/>
                </a:moveTo>
                <a:lnTo>
                  <a:pt x="5438772" y="0"/>
                </a:lnTo>
                <a:cubicBezTo>
                  <a:pt x="5501858" y="0"/>
                  <a:pt x="5553075" y="51217"/>
                  <a:pt x="5553075" y="114303"/>
                </a:cubicBezTo>
                <a:lnTo>
                  <a:pt x="5553075" y="1609722"/>
                </a:lnTo>
                <a:cubicBezTo>
                  <a:pt x="5553075" y="1672808"/>
                  <a:pt x="5501858" y="1724025"/>
                  <a:pt x="5438772" y="1724025"/>
                </a:cubicBezTo>
                <a:lnTo>
                  <a:pt x="114303" y="1724025"/>
                </a:lnTo>
                <a:cubicBezTo>
                  <a:pt x="51217" y="1724025"/>
                  <a:pt x="0" y="1672808"/>
                  <a:pt x="0" y="16097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788" y="49244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9" name="Text 17"/>
          <p:cNvSpPr/>
          <p:nvPr/>
        </p:nvSpPr>
        <p:spPr>
          <a:xfrm>
            <a:off x="993874" y="4886325"/>
            <a:ext cx="4829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Leakage Prevention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3874" y="5305425"/>
            <a:ext cx="48006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forward-looking approach </a:t>
            </a: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mirrors real-world deployment</a:t>
            </a: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prevents target leakage by strictly separating historical features from future labels.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53163" y="1585913"/>
            <a:ext cx="5553075" cy="3086100"/>
          </a:xfrm>
          <a:custGeom>
            <a:avLst/>
            <a:gdLst/>
            <a:ahLst/>
            <a:cxnLst/>
            <a:rect l="l" t="t" r="r" b="b"/>
            <a:pathLst>
              <a:path w="5553075" h="3086100">
                <a:moveTo>
                  <a:pt x="114309" y="0"/>
                </a:moveTo>
                <a:lnTo>
                  <a:pt x="5438766" y="0"/>
                </a:lnTo>
                <a:cubicBezTo>
                  <a:pt x="5501897" y="0"/>
                  <a:pt x="5553075" y="51178"/>
                  <a:pt x="5553075" y="114309"/>
                </a:cubicBezTo>
                <a:lnTo>
                  <a:pt x="5553075" y="2971791"/>
                </a:lnTo>
                <a:cubicBezTo>
                  <a:pt x="5553075" y="3034922"/>
                  <a:pt x="5501897" y="3086100"/>
                  <a:pt x="5438766" y="3086100"/>
                </a:cubicBezTo>
                <a:lnTo>
                  <a:pt x="114309" y="3086100"/>
                </a:lnTo>
                <a:cubicBezTo>
                  <a:pt x="51178" y="3086100"/>
                  <a:pt x="0" y="3034922"/>
                  <a:pt x="0" y="297179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15100" y="1857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511" y="42863"/>
                </a:moveTo>
                <a:lnTo>
                  <a:pt x="14511" y="109612"/>
                </a:lnTo>
                <a:cubicBezTo>
                  <a:pt x="14511" y="117202"/>
                  <a:pt x="17502" y="124480"/>
                  <a:pt x="22860" y="129838"/>
                </a:cubicBezTo>
                <a:lnTo>
                  <a:pt x="108585" y="215563"/>
                </a:lnTo>
                <a:cubicBezTo>
                  <a:pt x="119747" y="226725"/>
                  <a:pt x="137830" y="226725"/>
                  <a:pt x="148992" y="215563"/>
                </a:cubicBezTo>
                <a:lnTo>
                  <a:pt x="215741" y="148813"/>
                </a:lnTo>
                <a:cubicBezTo>
                  <a:pt x="226903" y="137651"/>
                  <a:pt x="226903" y="119569"/>
                  <a:pt x="215741" y="108406"/>
                </a:cubicBezTo>
                <a:lnTo>
                  <a:pt x="130016" y="22681"/>
                </a:lnTo>
                <a:cubicBezTo>
                  <a:pt x="124658" y="17279"/>
                  <a:pt x="117425" y="14288"/>
                  <a:pt x="109835" y="14288"/>
                </a:cubicBezTo>
                <a:lnTo>
                  <a:pt x="43086" y="14288"/>
                </a:lnTo>
                <a:cubicBezTo>
                  <a:pt x="27325" y="14288"/>
                  <a:pt x="14511" y="27102"/>
                  <a:pt x="14511" y="42863"/>
                </a:cubicBezTo>
                <a:close/>
                <a:moveTo>
                  <a:pt x="64517" y="50006"/>
                </a:moveTo>
                <a:cubicBezTo>
                  <a:pt x="72402" y="50006"/>
                  <a:pt x="78804" y="56408"/>
                  <a:pt x="78804" y="64294"/>
                </a:cubicBezTo>
                <a:cubicBezTo>
                  <a:pt x="78804" y="72179"/>
                  <a:pt x="72402" y="78581"/>
                  <a:pt x="64517" y="78581"/>
                </a:cubicBezTo>
                <a:cubicBezTo>
                  <a:pt x="56632" y="78581"/>
                  <a:pt x="50229" y="72179"/>
                  <a:pt x="50229" y="64294"/>
                </a:cubicBezTo>
                <a:cubicBezTo>
                  <a:pt x="50229" y="56408"/>
                  <a:pt x="56632" y="50006"/>
                  <a:pt x="64517" y="5000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3" name="Text 21"/>
          <p:cNvSpPr/>
          <p:nvPr/>
        </p:nvSpPr>
        <p:spPr>
          <a:xfrm>
            <a:off x="6886575" y="1819275"/>
            <a:ext cx="175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Churn Definition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505575" y="2314575"/>
            <a:ext cx="5067300" cy="1000125"/>
          </a:xfrm>
          <a:custGeom>
            <a:avLst/>
            <a:gdLst/>
            <a:ahLst/>
            <a:cxnLst/>
            <a:rect l="l" t="t" r="r" b="b"/>
            <a:pathLst>
              <a:path w="5067300" h="1000125">
                <a:moveTo>
                  <a:pt x="0" y="0"/>
                </a:moveTo>
                <a:lnTo>
                  <a:pt x="4991100" y="0"/>
                </a:lnTo>
                <a:cubicBezTo>
                  <a:pt x="5033184" y="0"/>
                  <a:pt x="5067300" y="34116"/>
                  <a:pt x="5067300" y="76200"/>
                </a:cubicBezTo>
                <a:lnTo>
                  <a:pt x="5067300" y="923925"/>
                </a:lnTo>
                <a:cubicBezTo>
                  <a:pt x="5067300" y="966009"/>
                  <a:pt x="5033184" y="1000125"/>
                  <a:pt x="4991100" y="1000125"/>
                </a:cubicBez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4A6C82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6505575" y="2314575"/>
            <a:ext cx="38100" cy="1000125"/>
          </a:xfrm>
          <a:custGeom>
            <a:avLst/>
            <a:gdLst/>
            <a:ahLst/>
            <a:cxnLst/>
            <a:rect l="l" t="t" r="r" b="b"/>
            <a:pathLst>
              <a:path w="38100" h="1000125">
                <a:moveTo>
                  <a:pt x="0" y="0"/>
                </a:moveTo>
                <a:lnTo>
                  <a:pt x="38100" y="0"/>
                </a:lnTo>
                <a:lnTo>
                  <a:pt x="38100" y="1000125"/>
                </a:lnTo>
                <a:lnTo>
                  <a:pt x="0" y="1000125"/>
                </a:lnTo>
                <a:lnTo>
                  <a:pt x="0" y="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6" name="Text 24"/>
          <p:cNvSpPr/>
          <p:nvPr/>
        </p:nvSpPr>
        <p:spPr>
          <a:xfrm>
            <a:off x="6715125" y="2505075"/>
            <a:ext cx="4762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customer is labeled as </a:t>
            </a:r>
            <a:r>
              <a:rPr lang="en-US" sz="15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churned</a:t>
            </a:r>
            <a:r>
              <a:rPr lang="en-US" sz="15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they make </a:t>
            </a:r>
            <a:r>
              <a:rPr lang="en-US" sz="15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purchase within 90 days</a:t>
            </a:r>
            <a:r>
              <a:rPr lang="en-US" sz="15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after the cutoff date.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91288" y="3471863"/>
            <a:ext cx="2457450" cy="962025"/>
          </a:xfrm>
          <a:custGeom>
            <a:avLst/>
            <a:gdLst/>
            <a:ahLst/>
            <a:cxnLst/>
            <a:rect l="l" t="t" r="r" b="b"/>
            <a:pathLst>
              <a:path w="2457450" h="962025">
                <a:moveTo>
                  <a:pt x="76202" y="0"/>
                </a:moveTo>
                <a:lnTo>
                  <a:pt x="2381248" y="0"/>
                </a:lnTo>
                <a:cubicBezTo>
                  <a:pt x="2423305" y="0"/>
                  <a:pt x="2457450" y="34145"/>
                  <a:pt x="2457450" y="76202"/>
                </a:cubicBezTo>
                <a:lnTo>
                  <a:pt x="2457450" y="885823"/>
                </a:lnTo>
                <a:cubicBezTo>
                  <a:pt x="2457450" y="927880"/>
                  <a:pt x="2423305" y="962025"/>
                  <a:pt x="2381248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2725" y="3629025"/>
            <a:ext cx="2314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57.3%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10350" y="4048125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Churned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110663" y="3471863"/>
            <a:ext cx="2457450" cy="962025"/>
          </a:xfrm>
          <a:custGeom>
            <a:avLst/>
            <a:gdLst/>
            <a:ahLst/>
            <a:cxnLst/>
            <a:rect l="l" t="t" r="r" b="b"/>
            <a:pathLst>
              <a:path w="2457450" h="962025">
                <a:moveTo>
                  <a:pt x="76202" y="0"/>
                </a:moveTo>
                <a:lnTo>
                  <a:pt x="2381248" y="0"/>
                </a:lnTo>
                <a:cubicBezTo>
                  <a:pt x="2423305" y="0"/>
                  <a:pt x="2457450" y="34145"/>
                  <a:pt x="2457450" y="76202"/>
                </a:cubicBezTo>
                <a:lnTo>
                  <a:pt x="2457450" y="885823"/>
                </a:lnTo>
                <a:cubicBezTo>
                  <a:pt x="2457450" y="927880"/>
                  <a:pt x="2423305" y="962025"/>
                  <a:pt x="2381248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82100" y="3629025"/>
            <a:ext cx="23145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4A6C8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42.7%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229725" y="4048125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Retained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53163" y="4872038"/>
            <a:ext cx="5553075" cy="1876425"/>
          </a:xfrm>
          <a:custGeom>
            <a:avLst/>
            <a:gdLst/>
            <a:ahLst/>
            <a:cxnLst/>
            <a:rect l="l" t="t" r="r" b="b"/>
            <a:pathLst>
              <a:path w="5553075" h="1876425">
                <a:moveTo>
                  <a:pt x="114293" y="0"/>
                </a:moveTo>
                <a:lnTo>
                  <a:pt x="5438782" y="0"/>
                </a:lnTo>
                <a:cubicBezTo>
                  <a:pt x="5501904" y="0"/>
                  <a:pt x="5553075" y="51171"/>
                  <a:pt x="5553075" y="114293"/>
                </a:cubicBezTo>
                <a:lnTo>
                  <a:pt x="5553075" y="1762132"/>
                </a:lnTo>
                <a:cubicBezTo>
                  <a:pt x="5553075" y="1825254"/>
                  <a:pt x="5501904" y="1876425"/>
                  <a:pt x="5438782" y="1876425"/>
                </a:cubicBezTo>
                <a:lnTo>
                  <a:pt x="114293" y="1876425"/>
                </a:lnTo>
                <a:cubicBezTo>
                  <a:pt x="51171" y="1876425"/>
                  <a:pt x="0" y="1825254"/>
                  <a:pt x="0" y="17621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15100" y="5143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5" name="Text 33"/>
          <p:cNvSpPr/>
          <p:nvPr/>
        </p:nvSpPr>
        <p:spPr>
          <a:xfrm>
            <a:off x="6886575" y="5105400"/>
            <a:ext cx="2486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Split Strategy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86525" y="55816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2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91300" y="56959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19050"/>
                </a:moveTo>
                <a:cubicBezTo>
                  <a:pt x="117277" y="19050"/>
                  <a:pt x="142875" y="44648"/>
                  <a:pt x="142875" y="76200"/>
                </a:cubicBezTo>
                <a:cubicBezTo>
                  <a:pt x="142875" y="107752"/>
                  <a:pt x="117277" y="133350"/>
                  <a:pt x="85725" y="133350"/>
                </a:cubicBezTo>
                <a:cubicBezTo>
                  <a:pt x="66318" y="133350"/>
                  <a:pt x="49143" y="123676"/>
                  <a:pt x="38814" y="108853"/>
                </a:cubicBezTo>
                <a:cubicBezTo>
                  <a:pt x="35808" y="104537"/>
                  <a:pt x="29855" y="103495"/>
                  <a:pt x="25539" y="106501"/>
                </a:cubicBezTo>
                <a:cubicBezTo>
                  <a:pt x="21223" y="109508"/>
                  <a:pt x="20181" y="115461"/>
                  <a:pt x="23187" y="119777"/>
                </a:cubicBezTo>
                <a:cubicBezTo>
                  <a:pt x="36939" y="139482"/>
                  <a:pt x="59829" y="152400"/>
                  <a:pt x="85725" y="152400"/>
                </a:cubicBezTo>
                <a:cubicBezTo>
                  <a:pt x="127814" y="152400"/>
                  <a:pt x="161925" y="118289"/>
                  <a:pt x="161925" y="76200"/>
                </a:cubicBezTo>
                <a:cubicBezTo>
                  <a:pt x="161925" y="34111"/>
                  <a:pt x="127814" y="0"/>
                  <a:pt x="85725" y="0"/>
                </a:cubicBezTo>
                <a:cubicBezTo>
                  <a:pt x="60216" y="0"/>
                  <a:pt x="37654" y="12531"/>
                  <a:pt x="23813" y="31760"/>
                </a:cubicBezTo>
                <a:lnTo>
                  <a:pt x="23813" y="23813"/>
                </a:lnTo>
                <a:cubicBezTo>
                  <a:pt x="23813" y="18544"/>
                  <a:pt x="19556" y="14288"/>
                  <a:pt x="14288" y="14288"/>
                </a:cubicBezTo>
                <a:cubicBezTo>
                  <a:pt x="9019" y="14288"/>
                  <a:pt x="4763" y="18544"/>
                  <a:pt x="4763" y="23813"/>
                </a:cubicBezTo>
                <a:lnTo>
                  <a:pt x="4763" y="57150"/>
                </a:lnTo>
                <a:cubicBezTo>
                  <a:pt x="4763" y="62419"/>
                  <a:pt x="9019" y="66675"/>
                  <a:pt x="14288" y="66675"/>
                </a:cubicBezTo>
                <a:lnTo>
                  <a:pt x="21610" y="66675"/>
                </a:lnTo>
                <a:cubicBezTo>
                  <a:pt x="21759" y="66675"/>
                  <a:pt x="21908" y="66675"/>
                  <a:pt x="22056" y="66675"/>
                </a:cubicBezTo>
                <a:lnTo>
                  <a:pt x="47655" y="66675"/>
                </a:lnTo>
                <a:cubicBezTo>
                  <a:pt x="52923" y="66675"/>
                  <a:pt x="57180" y="62419"/>
                  <a:pt x="57180" y="57150"/>
                </a:cubicBezTo>
                <a:cubicBezTo>
                  <a:pt x="57180" y="51881"/>
                  <a:pt x="52923" y="47625"/>
                  <a:pt x="47655" y="47625"/>
                </a:cubicBezTo>
                <a:lnTo>
                  <a:pt x="36255" y="47625"/>
                </a:lnTo>
                <a:cubicBezTo>
                  <a:pt x="46107" y="30540"/>
                  <a:pt x="64591" y="19050"/>
                  <a:pt x="85725" y="19050"/>
                </a:cubicBezTo>
                <a:close/>
                <a:moveTo>
                  <a:pt x="92869" y="45244"/>
                </a:moveTo>
                <a:cubicBezTo>
                  <a:pt x="92869" y="41285"/>
                  <a:pt x="89684" y="38100"/>
                  <a:pt x="85725" y="38100"/>
                </a:cubicBezTo>
                <a:cubicBezTo>
                  <a:pt x="81766" y="38100"/>
                  <a:pt x="78581" y="41285"/>
                  <a:pt x="78581" y="45244"/>
                </a:cubicBezTo>
                <a:lnTo>
                  <a:pt x="78581" y="76200"/>
                </a:lnTo>
                <a:cubicBezTo>
                  <a:pt x="78581" y="78105"/>
                  <a:pt x="79325" y="79921"/>
                  <a:pt x="80665" y="81260"/>
                </a:cubicBezTo>
                <a:lnTo>
                  <a:pt x="102096" y="102691"/>
                </a:lnTo>
                <a:cubicBezTo>
                  <a:pt x="104894" y="105489"/>
                  <a:pt x="109418" y="105489"/>
                  <a:pt x="112187" y="102691"/>
                </a:cubicBezTo>
                <a:cubicBezTo>
                  <a:pt x="114955" y="99893"/>
                  <a:pt x="114985" y="95369"/>
                  <a:pt x="112187" y="92601"/>
                </a:cubicBezTo>
                <a:lnTo>
                  <a:pt x="92839" y="73253"/>
                </a:lnTo>
                <a:lnTo>
                  <a:pt x="92839" y="45244"/>
                </a:lnTo>
                <a:close/>
              </a:path>
            </a:pathLst>
          </a:custGeom>
          <a:solidFill>
            <a:srgbClr val="4A6C82"/>
          </a:solidFill>
          <a:ln/>
        </p:spPr>
      </p:sp>
      <p:sp>
        <p:nvSpPr>
          <p:cNvPr id="38" name="Text 36"/>
          <p:cNvSpPr/>
          <p:nvPr/>
        </p:nvSpPr>
        <p:spPr>
          <a:xfrm>
            <a:off x="6981825" y="5562600"/>
            <a:ext cx="466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Window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81825" y="5791200"/>
            <a:ext cx="465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 2009 → Sep 2011 (Feature Engineering)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86525" y="61150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591300" y="62293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0639" y="12829"/>
                </a:moveTo>
                <a:cubicBezTo>
                  <a:pt x="107186" y="9525"/>
                  <a:pt x="102096" y="8602"/>
                  <a:pt x="97721" y="10478"/>
                </a:cubicBezTo>
                <a:cubicBezTo>
                  <a:pt x="93345" y="12353"/>
                  <a:pt x="90488" y="16669"/>
                  <a:pt x="90488" y="21431"/>
                </a:cubicBezTo>
                <a:lnTo>
                  <a:pt x="90488" y="62002"/>
                </a:lnTo>
                <a:lnTo>
                  <a:pt x="39201" y="12859"/>
                </a:lnTo>
                <a:cubicBezTo>
                  <a:pt x="35749" y="9525"/>
                  <a:pt x="30659" y="8602"/>
                  <a:pt x="26283" y="10478"/>
                </a:cubicBezTo>
                <a:cubicBezTo>
                  <a:pt x="21908" y="12353"/>
                  <a:pt x="19050" y="16669"/>
                  <a:pt x="19050" y="21431"/>
                </a:cubicBezTo>
                <a:lnTo>
                  <a:pt x="19050" y="130969"/>
                </a:lnTo>
                <a:cubicBezTo>
                  <a:pt x="19050" y="135731"/>
                  <a:pt x="21908" y="140047"/>
                  <a:pt x="26283" y="141923"/>
                </a:cubicBezTo>
                <a:cubicBezTo>
                  <a:pt x="30659" y="143798"/>
                  <a:pt x="35749" y="142875"/>
                  <a:pt x="39201" y="139571"/>
                </a:cubicBezTo>
                <a:lnTo>
                  <a:pt x="90488" y="90398"/>
                </a:lnTo>
                <a:lnTo>
                  <a:pt x="90488" y="130969"/>
                </a:lnTo>
                <a:cubicBezTo>
                  <a:pt x="90488" y="135731"/>
                  <a:pt x="93345" y="140047"/>
                  <a:pt x="97721" y="141923"/>
                </a:cubicBezTo>
                <a:cubicBezTo>
                  <a:pt x="102096" y="143798"/>
                  <a:pt x="107186" y="142875"/>
                  <a:pt x="110639" y="139571"/>
                </a:cubicBezTo>
                <a:lnTo>
                  <a:pt x="167789" y="84802"/>
                </a:lnTo>
                <a:cubicBezTo>
                  <a:pt x="170140" y="82570"/>
                  <a:pt x="171450" y="79444"/>
                  <a:pt x="171450" y="76200"/>
                </a:cubicBezTo>
                <a:cubicBezTo>
                  <a:pt x="171450" y="72956"/>
                  <a:pt x="170111" y="69860"/>
                  <a:pt x="167789" y="67598"/>
                </a:cubicBezTo>
                <a:lnTo>
                  <a:pt x="110639" y="12829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2" name="Text 40"/>
          <p:cNvSpPr/>
          <p:nvPr/>
        </p:nvSpPr>
        <p:spPr>
          <a:xfrm>
            <a:off x="6981825" y="6096000"/>
            <a:ext cx="466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 Window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81825" y="6324600"/>
            <a:ext cx="4657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 2011 → Dec 2011 (Churn Label)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2038350" cy="314325"/>
          </a:xfrm>
          <a:custGeom>
            <a:avLst/>
            <a:gdLst/>
            <a:ahLst/>
            <a:cxnLst/>
            <a:rect l="l" t="t" r="r" b="b"/>
            <a:pathLst>
              <a:path w="2038350" h="314325">
                <a:moveTo>
                  <a:pt x="76199" y="0"/>
                </a:moveTo>
                <a:lnTo>
                  <a:pt x="1962151" y="0"/>
                </a:lnTo>
                <a:cubicBezTo>
                  <a:pt x="2004235" y="0"/>
                  <a:pt x="2038350" y="34115"/>
                  <a:pt x="2038350" y="76199"/>
                </a:cubicBezTo>
                <a:lnTo>
                  <a:pt x="2038350" y="238126"/>
                </a:lnTo>
                <a:cubicBezTo>
                  <a:pt x="2038350" y="280210"/>
                  <a:pt x="2004235" y="314325"/>
                  <a:pt x="1962151" y="314325"/>
                </a:cubicBezTo>
                <a:lnTo>
                  <a:pt x="76199" y="314325"/>
                </a:lnTo>
                <a:cubicBezTo>
                  <a:pt x="34115" y="314325"/>
                  <a:pt x="0" y="280210"/>
                  <a:pt x="0" y="238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2925" y="457200"/>
            <a:ext cx="18045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191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RFM &amp; Behavioral Metrics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144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5763" y="1547813"/>
            <a:ext cx="5591175" cy="4924425"/>
          </a:xfrm>
          <a:custGeom>
            <a:avLst/>
            <a:gdLst/>
            <a:ahLst/>
            <a:cxnLst/>
            <a:rect l="l" t="t" r="r" b="b"/>
            <a:pathLst>
              <a:path w="5591175" h="4924425">
                <a:moveTo>
                  <a:pt x="114296" y="0"/>
                </a:moveTo>
                <a:lnTo>
                  <a:pt x="5476879" y="0"/>
                </a:lnTo>
                <a:cubicBezTo>
                  <a:pt x="5540003" y="0"/>
                  <a:pt x="5591175" y="51172"/>
                  <a:pt x="5591175" y="114296"/>
                </a:cubicBezTo>
                <a:lnTo>
                  <a:pt x="5591175" y="4810129"/>
                </a:lnTo>
                <a:cubicBezTo>
                  <a:pt x="5591175" y="4873253"/>
                  <a:pt x="5540003" y="4924425"/>
                  <a:pt x="5476879" y="4924425"/>
                </a:cubicBezTo>
                <a:lnTo>
                  <a:pt x="114296" y="4924425"/>
                </a:lnTo>
                <a:cubicBezTo>
                  <a:pt x="51172" y="4924425"/>
                  <a:pt x="0" y="4873253"/>
                  <a:pt x="0" y="48101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2">
                  <a:alpha val="20000"/>
                </a:srgbClr>
              </a:gs>
              <a:gs pos="100000">
                <a:srgbClr val="4A6C82">
                  <a:alpha val="5000"/>
                </a:srgbClr>
              </a:gs>
            </a:gsLst>
            <a:lin ang="2700000" scaled="1"/>
          </a:gra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743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2700000" scaled="1"/>
          </a:gradFill>
          <a:ln/>
        </p:spPr>
      </p:sp>
      <p:sp>
        <p:nvSpPr>
          <p:cNvPr id="8" name="Text 6"/>
          <p:cNvSpPr/>
          <p:nvPr/>
        </p:nvSpPr>
        <p:spPr>
          <a:xfrm>
            <a:off x="533400" y="174307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RFM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2525" y="1819275"/>
            <a:ext cx="1514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RFM Features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1025" y="2352675"/>
            <a:ext cx="5200650" cy="895350"/>
          </a:xfrm>
          <a:custGeom>
            <a:avLst/>
            <a:gdLst/>
            <a:ahLst/>
            <a:cxnLst/>
            <a:rect l="l" t="t" r="r" b="b"/>
            <a:pathLst>
              <a:path w="5200650" h="895350">
                <a:moveTo>
                  <a:pt x="76203" y="0"/>
                </a:moveTo>
                <a:lnTo>
                  <a:pt x="5124447" y="0"/>
                </a:lnTo>
                <a:cubicBezTo>
                  <a:pt x="5166533" y="0"/>
                  <a:pt x="5200650" y="34117"/>
                  <a:pt x="5200650" y="76203"/>
                </a:cubicBezTo>
                <a:lnTo>
                  <a:pt x="5200650" y="819147"/>
                </a:lnTo>
                <a:cubicBezTo>
                  <a:pt x="5200650" y="861233"/>
                  <a:pt x="5166533" y="895350"/>
                  <a:pt x="5124447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7238" y="25431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2" name="Text 10"/>
          <p:cNvSpPr/>
          <p:nvPr/>
        </p:nvSpPr>
        <p:spPr>
          <a:xfrm>
            <a:off x="1085850" y="2505075"/>
            <a:ext cx="81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Recency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3425" y="2847975"/>
            <a:ext cx="4972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since last purchase. </a:t>
            </a: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recency = lower churn risk.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1025" y="3362325"/>
            <a:ext cx="5200650" cy="895350"/>
          </a:xfrm>
          <a:custGeom>
            <a:avLst/>
            <a:gdLst/>
            <a:ahLst/>
            <a:cxnLst/>
            <a:rect l="l" t="t" r="r" b="b"/>
            <a:pathLst>
              <a:path w="5200650" h="895350">
                <a:moveTo>
                  <a:pt x="76203" y="0"/>
                </a:moveTo>
                <a:lnTo>
                  <a:pt x="5124447" y="0"/>
                </a:lnTo>
                <a:cubicBezTo>
                  <a:pt x="5166533" y="0"/>
                  <a:pt x="5200650" y="34117"/>
                  <a:pt x="5200650" y="76203"/>
                </a:cubicBezTo>
                <a:lnTo>
                  <a:pt x="5200650" y="819147"/>
                </a:lnTo>
                <a:cubicBezTo>
                  <a:pt x="5200650" y="861233"/>
                  <a:pt x="5166533" y="895350"/>
                  <a:pt x="5124447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57238" y="355282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2483" y="27794"/>
                </a:moveTo>
                <a:lnTo>
                  <a:pt x="166688" y="31775"/>
                </a:lnTo>
                <a:lnTo>
                  <a:pt x="166688" y="11906"/>
                </a:lnTo>
                <a:cubicBezTo>
                  <a:pt x="166688" y="5321"/>
                  <a:pt x="172008" y="0"/>
                  <a:pt x="178594" y="0"/>
                </a:cubicBezTo>
                <a:cubicBezTo>
                  <a:pt x="185179" y="0"/>
                  <a:pt x="190500" y="5321"/>
                  <a:pt x="190500" y="11906"/>
                </a:cubicBezTo>
                <a:lnTo>
                  <a:pt x="190500" y="59531"/>
                </a:lnTo>
                <a:cubicBezTo>
                  <a:pt x="190500" y="66117"/>
                  <a:pt x="185179" y="71438"/>
                  <a:pt x="178594" y="71438"/>
                </a:cubicBezTo>
                <a:lnTo>
                  <a:pt x="130969" y="71438"/>
                </a:lnTo>
                <a:cubicBezTo>
                  <a:pt x="124383" y="71438"/>
                  <a:pt x="119063" y="66117"/>
                  <a:pt x="119063" y="59531"/>
                </a:cubicBezTo>
                <a:cubicBezTo>
                  <a:pt x="119063" y="52946"/>
                  <a:pt x="124383" y="47625"/>
                  <a:pt x="130969" y="47625"/>
                </a:cubicBezTo>
                <a:lnTo>
                  <a:pt x="148791" y="47625"/>
                </a:lnTo>
                <a:lnTo>
                  <a:pt x="145963" y="44946"/>
                </a:lnTo>
                <a:cubicBezTo>
                  <a:pt x="145889" y="44872"/>
                  <a:pt x="145814" y="44797"/>
                  <a:pt x="145740" y="44723"/>
                </a:cubicBezTo>
                <a:cubicBezTo>
                  <a:pt x="117835" y="16818"/>
                  <a:pt x="72628" y="16818"/>
                  <a:pt x="44723" y="44723"/>
                </a:cubicBezTo>
                <a:cubicBezTo>
                  <a:pt x="16818" y="72628"/>
                  <a:pt x="16818" y="117835"/>
                  <a:pt x="44723" y="145740"/>
                </a:cubicBezTo>
                <a:cubicBezTo>
                  <a:pt x="72628" y="173645"/>
                  <a:pt x="117835" y="173645"/>
                  <a:pt x="145740" y="145740"/>
                </a:cubicBezTo>
                <a:cubicBezTo>
                  <a:pt x="148791" y="142689"/>
                  <a:pt x="151507" y="139452"/>
                  <a:pt x="153888" y="136029"/>
                </a:cubicBezTo>
                <a:cubicBezTo>
                  <a:pt x="157646" y="130634"/>
                  <a:pt x="165088" y="129332"/>
                  <a:pt x="170483" y="133090"/>
                </a:cubicBezTo>
                <a:cubicBezTo>
                  <a:pt x="175878" y="136847"/>
                  <a:pt x="177180" y="144289"/>
                  <a:pt x="173422" y="149684"/>
                </a:cubicBezTo>
                <a:cubicBezTo>
                  <a:pt x="170259" y="154223"/>
                  <a:pt x="166650" y="158539"/>
                  <a:pt x="162595" y="162595"/>
                </a:cubicBezTo>
                <a:cubicBezTo>
                  <a:pt x="125388" y="199802"/>
                  <a:pt x="65075" y="199802"/>
                  <a:pt x="27905" y="162595"/>
                </a:cubicBezTo>
                <a:cubicBezTo>
                  <a:pt x="-9265" y="125388"/>
                  <a:pt x="-9302" y="65112"/>
                  <a:pt x="27905" y="27905"/>
                </a:cubicBezTo>
                <a:cubicBezTo>
                  <a:pt x="65075" y="-9265"/>
                  <a:pt x="125276" y="-9302"/>
                  <a:pt x="162483" y="2779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850" y="3514725"/>
            <a:ext cx="99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Frequency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3425" y="3857625"/>
            <a:ext cx="4972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Number of transactions. </a:t>
            </a: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frequency = stronger loyalty.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1025" y="4371975"/>
            <a:ext cx="5200650" cy="895350"/>
          </a:xfrm>
          <a:custGeom>
            <a:avLst/>
            <a:gdLst/>
            <a:ahLst/>
            <a:cxnLst/>
            <a:rect l="l" t="t" r="r" b="b"/>
            <a:pathLst>
              <a:path w="5200650" h="895350">
                <a:moveTo>
                  <a:pt x="76203" y="0"/>
                </a:moveTo>
                <a:lnTo>
                  <a:pt x="5124447" y="0"/>
                </a:lnTo>
                <a:cubicBezTo>
                  <a:pt x="5166533" y="0"/>
                  <a:pt x="5200650" y="34117"/>
                  <a:pt x="5200650" y="76203"/>
                </a:cubicBezTo>
                <a:lnTo>
                  <a:pt x="5200650" y="819147"/>
                </a:lnTo>
                <a:cubicBezTo>
                  <a:pt x="5200650" y="861233"/>
                  <a:pt x="5166533" y="895350"/>
                  <a:pt x="5124447" y="895350"/>
                </a:cubicBezTo>
                <a:lnTo>
                  <a:pt x="76203" y="895350"/>
                </a:lnTo>
                <a:cubicBezTo>
                  <a:pt x="34117" y="895350"/>
                  <a:pt x="0" y="861233"/>
                  <a:pt x="0" y="819147"/>
                </a:cubicBezTo>
                <a:lnTo>
                  <a:pt x="0" y="76203"/>
                </a:lnTo>
                <a:cubicBezTo>
                  <a:pt x="0" y="34146"/>
                  <a:pt x="34146" y="0"/>
                  <a:pt x="76203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1050" y="45624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33970" y="107156"/>
                </a:moveTo>
                <a:lnTo>
                  <a:pt x="21022" y="107156"/>
                </a:lnTo>
                <a:cubicBezTo>
                  <a:pt x="16073" y="107156"/>
                  <a:pt x="12092" y="103175"/>
                  <a:pt x="12092" y="98227"/>
                </a:cubicBezTo>
                <a:cubicBezTo>
                  <a:pt x="12092" y="93278"/>
                  <a:pt x="16073" y="89297"/>
                  <a:pt x="21022" y="89297"/>
                </a:cubicBezTo>
                <a:lnTo>
                  <a:pt x="28984" y="89297"/>
                </a:lnTo>
                <a:cubicBezTo>
                  <a:pt x="13878" y="54806"/>
                  <a:pt x="39105" y="15627"/>
                  <a:pt x="77242" y="15627"/>
                </a:cubicBezTo>
                <a:lnTo>
                  <a:pt x="80293" y="15627"/>
                </a:lnTo>
                <a:cubicBezTo>
                  <a:pt x="92794" y="15627"/>
                  <a:pt x="104924" y="19831"/>
                  <a:pt x="114709" y="27608"/>
                </a:cubicBezTo>
                <a:lnTo>
                  <a:pt x="120700" y="32333"/>
                </a:lnTo>
                <a:cubicBezTo>
                  <a:pt x="125871" y="36426"/>
                  <a:pt x="126727" y="43904"/>
                  <a:pt x="122634" y="49076"/>
                </a:cubicBezTo>
                <a:cubicBezTo>
                  <a:pt x="118542" y="54248"/>
                  <a:pt x="111063" y="55104"/>
                  <a:pt x="105891" y="51011"/>
                </a:cubicBezTo>
                <a:lnTo>
                  <a:pt x="99901" y="46286"/>
                </a:lnTo>
                <a:cubicBezTo>
                  <a:pt x="94320" y="41858"/>
                  <a:pt x="87399" y="39439"/>
                  <a:pt x="80256" y="39439"/>
                </a:cubicBezTo>
                <a:lnTo>
                  <a:pt x="77205" y="39439"/>
                </a:lnTo>
                <a:cubicBezTo>
                  <a:pt x="55885" y="39439"/>
                  <a:pt x="41970" y="61726"/>
                  <a:pt x="51271" y="80888"/>
                </a:cubicBezTo>
                <a:cubicBezTo>
                  <a:pt x="52611" y="83641"/>
                  <a:pt x="53727" y="86432"/>
                  <a:pt x="54657" y="89297"/>
                </a:cubicBezTo>
                <a:lnTo>
                  <a:pt x="110282" y="89297"/>
                </a:lnTo>
                <a:cubicBezTo>
                  <a:pt x="115230" y="89297"/>
                  <a:pt x="119211" y="93278"/>
                  <a:pt x="119211" y="98227"/>
                </a:cubicBezTo>
                <a:cubicBezTo>
                  <a:pt x="119211" y="103175"/>
                  <a:pt x="115230" y="107156"/>
                  <a:pt x="110282" y="107156"/>
                </a:cubicBezTo>
                <a:lnTo>
                  <a:pt x="57745" y="107156"/>
                </a:lnTo>
                <a:cubicBezTo>
                  <a:pt x="58117" y="120290"/>
                  <a:pt x="54508" y="133424"/>
                  <a:pt x="46992" y="144698"/>
                </a:cubicBezTo>
                <a:lnTo>
                  <a:pt x="40258" y="154781"/>
                </a:lnTo>
                <a:lnTo>
                  <a:pt x="119211" y="154781"/>
                </a:lnTo>
                <a:cubicBezTo>
                  <a:pt x="125797" y="154781"/>
                  <a:pt x="131118" y="160102"/>
                  <a:pt x="131118" y="166688"/>
                </a:cubicBezTo>
                <a:cubicBezTo>
                  <a:pt x="131118" y="173273"/>
                  <a:pt x="125797" y="178594"/>
                  <a:pt x="119211" y="178594"/>
                </a:cubicBezTo>
                <a:lnTo>
                  <a:pt x="18008" y="178594"/>
                </a:lnTo>
                <a:cubicBezTo>
                  <a:pt x="13618" y="178594"/>
                  <a:pt x="9599" y="176175"/>
                  <a:pt x="7516" y="172306"/>
                </a:cubicBezTo>
                <a:cubicBezTo>
                  <a:pt x="5432" y="168436"/>
                  <a:pt x="5655" y="163748"/>
                  <a:pt x="8111" y="160065"/>
                </a:cubicBezTo>
                <a:lnTo>
                  <a:pt x="27161" y="131490"/>
                </a:lnTo>
                <a:cubicBezTo>
                  <a:pt x="32035" y="124197"/>
                  <a:pt x="34305" y="115639"/>
                  <a:pt x="33933" y="10715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0" name="Text 18"/>
          <p:cNvSpPr/>
          <p:nvPr/>
        </p:nvSpPr>
        <p:spPr>
          <a:xfrm>
            <a:off x="1085850" y="4524375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Monetary Value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3425" y="4867275"/>
            <a:ext cx="4972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revenue generated. </a:t>
            </a: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value = more stable customer.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5063" y="1547813"/>
            <a:ext cx="5591175" cy="3286125"/>
          </a:xfrm>
          <a:custGeom>
            <a:avLst/>
            <a:gdLst/>
            <a:ahLst/>
            <a:cxnLst/>
            <a:rect l="l" t="t" r="r" b="b"/>
            <a:pathLst>
              <a:path w="5591175" h="3286125">
                <a:moveTo>
                  <a:pt x="114291" y="0"/>
                </a:moveTo>
                <a:lnTo>
                  <a:pt x="5476884" y="0"/>
                </a:lnTo>
                <a:cubicBezTo>
                  <a:pt x="5540005" y="0"/>
                  <a:pt x="5591175" y="51170"/>
                  <a:pt x="5591175" y="114291"/>
                </a:cubicBezTo>
                <a:lnTo>
                  <a:pt x="5591175" y="3171834"/>
                </a:lnTo>
                <a:cubicBezTo>
                  <a:pt x="5591175" y="3234955"/>
                  <a:pt x="5540005" y="3286125"/>
                  <a:pt x="5476884" y="3286125"/>
                </a:cubicBezTo>
                <a:lnTo>
                  <a:pt x="114291" y="3286125"/>
                </a:lnTo>
                <a:cubicBezTo>
                  <a:pt x="51170" y="3286125"/>
                  <a:pt x="0" y="3234955"/>
                  <a:pt x="0" y="317183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10325" y="17430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2700000" scaled="1"/>
          </a:gradFill>
          <a:ln/>
        </p:spPr>
      </p:sp>
      <p:sp>
        <p:nvSpPr>
          <p:cNvPr id="24" name="Text 22"/>
          <p:cNvSpPr/>
          <p:nvPr/>
        </p:nvSpPr>
        <p:spPr>
          <a:xfrm>
            <a:off x="6362700" y="174307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81825" y="1819275"/>
            <a:ext cx="209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Behavioral Features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10325" y="2352675"/>
            <a:ext cx="2543175" cy="685800"/>
          </a:xfrm>
          <a:custGeom>
            <a:avLst/>
            <a:gdLst/>
            <a:ahLst/>
            <a:cxnLst/>
            <a:rect l="l" t="t" r="r" b="b"/>
            <a:pathLst>
              <a:path w="2543175" h="685800">
                <a:moveTo>
                  <a:pt x="76199" y="0"/>
                </a:moveTo>
                <a:lnTo>
                  <a:pt x="2466976" y="0"/>
                </a:lnTo>
                <a:cubicBezTo>
                  <a:pt x="2509059" y="0"/>
                  <a:pt x="2543175" y="34116"/>
                  <a:pt x="2543175" y="76199"/>
                </a:cubicBezTo>
                <a:lnTo>
                  <a:pt x="2543175" y="609601"/>
                </a:lnTo>
                <a:cubicBezTo>
                  <a:pt x="2543175" y="651684"/>
                  <a:pt x="2509059" y="685800"/>
                  <a:pt x="24669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43675" y="25050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8" name="Text 26"/>
          <p:cNvSpPr/>
          <p:nvPr/>
        </p:nvSpPr>
        <p:spPr>
          <a:xfrm>
            <a:off x="6791325" y="2466975"/>
            <a:ext cx="1314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Interpurchase Gap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24625" y="2733675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&amp; Std of purchase intervals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067800" y="2352675"/>
            <a:ext cx="2543175" cy="685800"/>
          </a:xfrm>
          <a:custGeom>
            <a:avLst/>
            <a:gdLst/>
            <a:ahLst/>
            <a:cxnLst/>
            <a:rect l="l" t="t" r="r" b="b"/>
            <a:pathLst>
              <a:path w="2543175" h="685800">
                <a:moveTo>
                  <a:pt x="76199" y="0"/>
                </a:moveTo>
                <a:lnTo>
                  <a:pt x="2466976" y="0"/>
                </a:lnTo>
                <a:cubicBezTo>
                  <a:pt x="2509059" y="0"/>
                  <a:pt x="2543175" y="34116"/>
                  <a:pt x="2543175" y="76199"/>
                </a:cubicBezTo>
                <a:lnTo>
                  <a:pt x="2543175" y="609601"/>
                </a:lnTo>
                <a:cubicBezTo>
                  <a:pt x="2543175" y="651684"/>
                  <a:pt x="2509059" y="685800"/>
                  <a:pt x="24669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191625" y="250507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0"/>
                </a:moveTo>
                <a:cubicBezTo>
                  <a:pt x="87690" y="0"/>
                  <a:pt x="89565" y="804"/>
                  <a:pt x="90904" y="2232"/>
                </a:cubicBezTo>
                <a:lnTo>
                  <a:pt x="133767" y="47476"/>
                </a:lnTo>
                <a:lnTo>
                  <a:pt x="133916" y="47625"/>
                </a:lnTo>
                <a:lnTo>
                  <a:pt x="157163" y="47625"/>
                </a:lnTo>
                <a:cubicBezTo>
                  <a:pt x="162431" y="47625"/>
                  <a:pt x="166688" y="51881"/>
                  <a:pt x="166688" y="57150"/>
                </a:cubicBezTo>
                <a:cubicBezTo>
                  <a:pt x="166688" y="61466"/>
                  <a:pt x="163830" y="65097"/>
                  <a:pt x="159901" y="66288"/>
                </a:cubicBezTo>
                <a:lnTo>
                  <a:pt x="146179" y="127962"/>
                </a:lnTo>
                <a:cubicBezTo>
                  <a:pt x="144244" y="136684"/>
                  <a:pt x="136505" y="142875"/>
                  <a:pt x="127575" y="142875"/>
                </a:cubicBezTo>
                <a:lnTo>
                  <a:pt x="43845" y="142875"/>
                </a:lnTo>
                <a:cubicBezTo>
                  <a:pt x="34915" y="142875"/>
                  <a:pt x="27176" y="136684"/>
                  <a:pt x="25241" y="127962"/>
                </a:cubicBezTo>
                <a:lnTo>
                  <a:pt x="11549" y="66288"/>
                </a:lnTo>
                <a:cubicBezTo>
                  <a:pt x="7620" y="65127"/>
                  <a:pt x="4763" y="61466"/>
                  <a:pt x="4763" y="57150"/>
                </a:cubicBezTo>
                <a:cubicBezTo>
                  <a:pt x="4763" y="51881"/>
                  <a:pt x="9019" y="47625"/>
                  <a:pt x="14288" y="47625"/>
                </a:cubicBezTo>
                <a:lnTo>
                  <a:pt x="37534" y="47625"/>
                </a:lnTo>
                <a:lnTo>
                  <a:pt x="37683" y="47476"/>
                </a:lnTo>
                <a:lnTo>
                  <a:pt x="80546" y="2232"/>
                </a:lnTo>
                <a:cubicBezTo>
                  <a:pt x="81885" y="804"/>
                  <a:pt x="83760" y="0"/>
                  <a:pt x="85725" y="0"/>
                </a:cubicBezTo>
                <a:close/>
                <a:moveTo>
                  <a:pt x="85725" y="17532"/>
                </a:moveTo>
                <a:lnTo>
                  <a:pt x="57210" y="47625"/>
                </a:lnTo>
                <a:lnTo>
                  <a:pt x="114240" y="47625"/>
                </a:lnTo>
                <a:lnTo>
                  <a:pt x="85725" y="17532"/>
                </a:lnTo>
                <a:close/>
                <a:moveTo>
                  <a:pt x="61912" y="78581"/>
                </a:moveTo>
                <a:cubicBezTo>
                  <a:pt x="61912" y="74622"/>
                  <a:pt x="58728" y="71438"/>
                  <a:pt x="54769" y="71438"/>
                </a:cubicBezTo>
                <a:cubicBezTo>
                  <a:pt x="50810" y="71438"/>
                  <a:pt x="47625" y="74622"/>
                  <a:pt x="47625" y="78581"/>
                </a:cubicBezTo>
                <a:lnTo>
                  <a:pt x="47625" y="111919"/>
                </a:lnTo>
                <a:cubicBezTo>
                  <a:pt x="47625" y="115878"/>
                  <a:pt x="50810" y="119062"/>
                  <a:pt x="54769" y="119062"/>
                </a:cubicBezTo>
                <a:cubicBezTo>
                  <a:pt x="58728" y="119062"/>
                  <a:pt x="61912" y="115878"/>
                  <a:pt x="61912" y="111919"/>
                </a:cubicBezTo>
                <a:lnTo>
                  <a:pt x="61912" y="78581"/>
                </a:lnTo>
                <a:close/>
                <a:moveTo>
                  <a:pt x="85725" y="71438"/>
                </a:moveTo>
                <a:cubicBezTo>
                  <a:pt x="81766" y="71438"/>
                  <a:pt x="78581" y="74622"/>
                  <a:pt x="78581" y="78581"/>
                </a:cubicBezTo>
                <a:lnTo>
                  <a:pt x="78581" y="111919"/>
                </a:lnTo>
                <a:cubicBezTo>
                  <a:pt x="78581" y="115878"/>
                  <a:pt x="81766" y="119062"/>
                  <a:pt x="85725" y="119062"/>
                </a:cubicBezTo>
                <a:cubicBezTo>
                  <a:pt x="89684" y="119062"/>
                  <a:pt x="92869" y="115878"/>
                  <a:pt x="92869" y="111919"/>
                </a:cubicBezTo>
                <a:lnTo>
                  <a:pt x="92869" y="78581"/>
                </a:lnTo>
                <a:cubicBezTo>
                  <a:pt x="92869" y="74622"/>
                  <a:pt x="89684" y="71438"/>
                  <a:pt x="85725" y="71438"/>
                </a:cubicBezTo>
                <a:close/>
                <a:moveTo>
                  <a:pt x="123825" y="78581"/>
                </a:moveTo>
                <a:cubicBezTo>
                  <a:pt x="123825" y="74622"/>
                  <a:pt x="120640" y="71438"/>
                  <a:pt x="116681" y="71438"/>
                </a:cubicBezTo>
                <a:cubicBezTo>
                  <a:pt x="112722" y="71438"/>
                  <a:pt x="109537" y="74622"/>
                  <a:pt x="109537" y="78581"/>
                </a:cubicBezTo>
                <a:lnTo>
                  <a:pt x="109537" y="111919"/>
                </a:lnTo>
                <a:cubicBezTo>
                  <a:pt x="109537" y="115878"/>
                  <a:pt x="112722" y="119062"/>
                  <a:pt x="116681" y="119062"/>
                </a:cubicBezTo>
                <a:cubicBezTo>
                  <a:pt x="120640" y="119062"/>
                  <a:pt x="123825" y="115878"/>
                  <a:pt x="123825" y="111919"/>
                </a:cubicBezTo>
                <a:lnTo>
                  <a:pt x="123825" y="78581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2" name="Text 30"/>
          <p:cNvSpPr/>
          <p:nvPr/>
        </p:nvSpPr>
        <p:spPr>
          <a:xfrm>
            <a:off x="9448800" y="2466975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Basket Value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82100" y="2733675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&amp; Std of transaction values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10325" y="3152775"/>
            <a:ext cx="2543175" cy="685800"/>
          </a:xfrm>
          <a:custGeom>
            <a:avLst/>
            <a:gdLst/>
            <a:ahLst/>
            <a:cxnLst/>
            <a:rect l="l" t="t" r="r" b="b"/>
            <a:pathLst>
              <a:path w="2543175" h="685800">
                <a:moveTo>
                  <a:pt x="76199" y="0"/>
                </a:moveTo>
                <a:lnTo>
                  <a:pt x="2466976" y="0"/>
                </a:lnTo>
                <a:cubicBezTo>
                  <a:pt x="2509059" y="0"/>
                  <a:pt x="2543175" y="34116"/>
                  <a:pt x="2543175" y="76199"/>
                </a:cubicBezTo>
                <a:lnTo>
                  <a:pt x="2543175" y="609601"/>
                </a:lnTo>
                <a:cubicBezTo>
                  <a:pt x="2543175" y="651684"/>
                  <a:pt x="2509059" y="685800"/>
                  <a:pt x="24669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543675" y="33051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616" y="68014"/>
                </a:moveTo>
                <a:cubicBezTo>
                  <a:pt x="23574" y="40332"/>
                  <a:pt x="47417" y="19050"/>
                  <a:pt x="76200" y="19050"/>
                </a:cubicBezTo>
                <a:cubicBezTo>
                  <a:pt x="91976" y="19050"/>
                  <a:pt x="106263" y="25450"/>
                  <a:pt x="116622" y="35778"/>
                </a:cubicBezTo>
                <a:cubicBezTo>
                  <a:pt x="116681" y="35838"/>
                  <a:pt x="116741" y="35897"/>
                  <a:pt x="116800" y="35957"/>
                </a:cubicBezTo>
                <a:lnTo>
                  <a:pt x="119063" y="38100"/>
                </a:lnTo>
                <a:lnTo>
                  <a:pt x="104805" y="38100"/>
                </a:lnTo>
                <a:cubicBezTo>
                  <a:pt x="99536" y="38100"/>
                  <a:pt x="95280" y="42356"/>
                  <a:pt x="95280" y="47625"/>
                </a:cubicBezTo>
                <a:cubicBezTo>
                  <a:pt x="95280" y="52894"/>
                  <a:pt x="99536" y="57150"/>
                  <a:pt x="104805" y="57150"/>
                </a:cubicBezTo>
                <a:lnTo>
                  <a:pt x="142905" y="57150"/>
                </a:lnTo>
                <a:cubicBezTo>
                  <a:pt x="148173" y="57150"/>
                  <a:pt x="152430" y="52894"/>
                  <a:pt x="152430" y="47625"/>
                </a:cubicBezTo>
                <a:lnTo>
                  <a:pt x="152430" y="9525"/>
                </a:lnTo>
                <a:cubicBezTo>
                  <a:pt x="152430" y="4256"/>
                  <a:pt x="148173" y="0"/>
                  <a:pt x="142905" y="0"/>
                </a:cubicBezTo>
                <a:cubicBezTo>
                  <a:pt x="137636" y="0"/>
                  <a:pt x="133380" y="4256"/>
                  <a:pt x="133380" y="9525"/>
                </a:cubicBezTo>
                <a:lnTo>
                  <a:pt x="133380" y="25420"/>
                </a:lnTo>
                <a:lnTo>
                  <a:pt x="130016" y="22235"/>
                </a:lnTo>
                <a:cubicBezTo>
                  <a:pt x="116235" y="8513"/>
                  <a:pt x="9718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lose/>
                <a:moveTo>
                  <a:pt x="151626" y="87064"/>
                </a:moveTo>
                <a:cubicBezTo>
                  <a:pt x="152370" y="81855"/>
                  <a:pt x="148739" y="77033"/>
                  <a:pt x="143560" y="76289"/>
                </a:cubicBezTo>
                <a:cubicBezTo>
                  <a:pt x="138380" y="75545"/>
                  <a:pt x="133529" y="79177"/>
                  <a:pt x="132784" y="84356"/>
                </a:cubicBezTo>
                <a:cubicBezTo>
                  <a:pt x="128826" y="112038"/>
                  <a:pt x="104983" y="133320"/>
                  <a:pt x="76200" y="133320"/>
                </a:cubicBezTo>
                <a:cubicBezTo>
                  <a:pt x="60424" y="133320"/>
                  <a:pt x="46137" y="126921"/>
                  <a:pt x="35778" y="116592"/>
                </a:cubicBezTo>
                <a:cubicBezTo>
                  <a:pt x="35719" y="116532"/>
                  <a:pt x="35659" y="116473"/>
                  <a:pt x="35600" y="116413"/>
                </a:cubicBezTo>
                <a:lnTo>
                  <a:pt x="33337" y="114270"/>
                </a:lnTo>
                <a:lnTo>
                  <a:pt x="47595" y="114270"/>
                </a:lnTo>
                <a:cubicBezTo>
                  <a:pt x="52864" y="114270"/>
                  <a:pt x="57120" y="110014"/>
                  <a:pt x="57120" y="104745"/>
                </a:cubicBezTo>
                <a:cubicBezTo>
                  <a:pt x="57120" y="99477"/>
                  <a:pt x="52864" y="95220"/>
                  <a:pt x="47595" y="95220"/>
                </a:cubicBezTo>
                <a:lnTo>
                  <a:pt x="9525" y="95250"/>
                </a:lnTo>
                <a:cubicBezTo>
                  <a:pt x="6995" y="95250"/>
                  <a:pt x="4554" y="96262"/>
                  <a:pt x="2768" y="98078"/>
                </a:cubicBezTo>
                <a:cubicBezTo>
                  <a:pt x="982" y="99893"/>
                  <a:pt x="-30" y="102304"/>
                  <a:pt x="0" y="104864"/>
                </a:cubicBezTo>
                <a:lnTo>
                  <a:pt x="298" y="142667"/>
                </a:lnTo>
                <a:cubicBezTo>
                  <a:pt x="327" y="147935"/>
                  <a:pt x="4643" y="152162"/>
                  <a:pt x="9912" y="152102"/>
                </a:cubicBezTo>
                <a:cubicBezTo>
                  <a:pt x="15180" y="152043"/>
                  <a:pt x="19407" y="147757"/>
                  <a:pt x="19348" y="142488"/>
                </a:cubicBezTo>
                <a:lnTo>
                  <a:pt x="19229" y="127159"/>
                </a:lnTo>
                <a:lnTo>
                  <a:pt x="22414" y="130165"/>
                </a:lnTo>
                <a:cubicBezTo>
                  <a:pt x="36195" y="143887"/>
                  <a:pt x="5521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6" name="Text 34"/>
          <p:cNvSpPr/>
          <p:nvPr/>
        </p:nvSpPr>
        <p:spPr>
          <a:xfrm>
            <a:off x="6791325" y="3267075"/>
            <a:ext cx="1085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Trend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24625" y="3533775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regression slope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067800" y="3152775"/>
            <a:ext cx="2543175" cy="685800"/>
          </a:xfrm>
          <a:custGeom>
            <a:avLst/>
            <a:gdLst/>
            <a:ahLst/>
            <a:cxnLst/>
            <a:rect l="l" t="t" r="r" b="b"/>
            <a:pathLst>
              <a:path w="2543175" h="685800">
                <a:moveTo>
                  <a:pt x="76199" y="0"/>
                </a:moveTo>
                <a:lnTo>
                  <a:pt x="2466976" y="0"/>
                </a:lnTo>
                <a:cubicBezTo>
                  <a:pt x="2509059" y="0"/>
                  <a:pt x="2543175" y="34116"/>
                  <a:pt x="2543175" y="76199"/>
                </a:cubicBezTo>
                <a:lnTo>
                  <a:pt x="2543175" y="609601"/>
                </a:lnTo>
                <a:cubicBezTo>
                  <a:pt x="2543175" y="651684"/>
                  <a:pt x="2509059" y="685800"/>
                  <a:pt x="24669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201150" y="33051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75" y="0"/>
                </a:moveTo>
                <a:lnTo>
                  <a:pt x="66675" y="19050"/>
                </a:lnTo>
                <a:cubicBezTo>
                  <a:pt x="66675" y="21669"/>
                  <a:pt x="68818" y="23813"/>
                  <a:pt x="71438" y="23813"/>
                </a:cubicBezTo>
                <a:lnTo>
                  <a:pt x="80962" y="23813"/>
                </a:lnTo>
                <a:cubicBezTo>
                  <a:pt x="83582" y="23813"/>
                  <a:pt x="85725" y="21669"/>
                  <a:pt x="85725" y="19050"/>
                </a:cubicBezTo>
                <a:lnTo>
                  <a:pt x="85725" y="0"/>
                </a:lnTo>
                <a:lnTo>
                  <a:pt x="95250" y="0"/>
                </a:lnTo>
                <a:cubicBezTo>
                  <a:pt x="105757" y="0"/>
                  <a:pt x="114300" y="8543"/>
                  <a:pt x="114300" y="19050"/>
                </a:cubicBezTo>
                <a:lnTo>
                  <a:pt x="114300" y="57150"/>
                </a:lnTo>
                <a:cubicBezTo>
                  <a:pt x="114300" y="58787"/>
                  <a:pt x="114092" y="60394"/>
                  <a:pt x="113705" y="61912"/>
                </a:cubicBezTo>
                <a:lnTo>
                  <a:pt x="38695" y="61912"/>
                </a:lnTo>
                <a:cubicBezTo>
                  <a:pt x="38308" y="60394"/>
                  <a:pt x="38100" y="58787"/>
                  <a:pt x="38100" y="57150"/>
                </a:cubicBezTo>
                <a:lnTo>
                  <a:pt x="38100" y="19050"/>
                </a:lnTo>
                <a:cubicBezTo>
                  <a:pt x="38100" y="8543"/>
                  <a:pt x="46643" y="0"/>
                  <a:pt x="57150" y="0"/>
                </a:cubicBezTo>
                <a:lnTo>
                  <a:pt x="66675" y="0"/>
                </a:lnTo>
                <a:close/>
                <a:moveTo>
                  <a:pt x="95250" y="152400"/>
                </a:moveTo>
                <a:cubicBezTo>
                  <a:pt x="91916" y="152400"/>
                  <a:pt x="88761" y="151537"/>
                  <a:pt x="86023" y="150019"/>
                </a:cubicBezTo>
                <a:cubicBezTo>
                  <a:pt x="88850" y="145107"/>
                  <a:pt x="90488" y="139422"/>
                  <a:pt x="90488" y="133350"/>
                </a:cubicBezTo>
                <a:lnTo>
                  <a:pt x="90488" y="95250"/>
                </a:lnTo>
                <a:cubicBezTo>
                  <a:pt x="90488" y="89178"/>
                  <a:pt x="88850" y="83493"/>
                  <a:pt x="86023" y="78581"/>
                </a:cubicBezTo>
                <a:cubicBezTo>
                  <a:pt x="88761" y="77063"/>
                  <a:pt x="91886" y="76200"/>
                  <a:pt x="95250" y="76200"/>
                </a:cubicBezTo>
                <a:lnTo>
                  <a:pt x="104775" y="76200"/>
                </a:lnTo>
                <a:lnTo>
                  <a:pt x="104775" y="95250"/>
                </a:lnTo>
                <a:cubicBezTo>
                  <a:pt x="104775" y="97869"/>
                  <a:pt x="106918" y="100013"/>
                  <a:pt x="109537" y="100013"/>
                </a:cubicBezTo>
                <a:lnTo>
                  <a:pt x="119062" y="100013"/>
                </a:lnTo>
                <a:cubicBezTo>
                  <a:pt x="121682" y="100013"/>
                  <a:pt x="123825" y="97869"/>
                  <a:pt x="123825" y="95250"/>
                </a:cubicBezTo>
                <a:lnTo>
                  <a:pt x="123825" y="76200"/>
                </a:lnTo>
                <a:lnTo>
                  <a:pt x="133350" y="76200"/>
                </a:lnTo>
                <a:cubicBezTo>
                  <a:pt x="143857" y="76200"/>
                  <a:pt x="152400" y="84743"/>
                  <a:pt x="152400" y="95250"/>
                </a:cubicBezTo>
                <a:lnTo>
                  <a:pt x="152400" y="133350"/>
                </a:lnTo>
                <a:cubicBezTo>
                  <a:pt x="152400" y="143857"/>
                  <a:pt x="143857" y="152400"/>
                  <a:pt x="133350" y="152400"/>
                </a:cubicBezTo>
                <a:lnTo>
                  <a:pt x="95250" y="152400"/>
                </a:lnTo>
                <a:close/>
                <a:moveTo>
                  <a:pt x="0" y="95250"/>
                </a:moveTo>
                <a:cubicBezTo>
                  <a:pt x="0" y="84743"/>
                  <a:pt x="8543" y="76200"/>
                  <a:pt x="19050" y="76200"/>
                </a:cubicBezTo>
                <a:lnTo>
                  <a:pt x="28575" y="76200"/>
                </a:lnTo>
                <a:lnTo>
                  <a:pt x="28575" y="95250"/>
                </a:lnTo>
                <a:cubicBezTo>
                  <a:pt x="28575" y="97869"/>
                  <a:pt x="30718" y="100013"/>
                  <a:pt x="33338" y="100013"/>
                </a:cubicBezTo>
                <a:lnTo>
                  <a:pt x="42863" y="100013"/>
                </a:lnTo>
                <a:cubicBezTo>
                  <a:pt x="45482" y="100013"/>
                  <a:pt x="47625" y="97869"/>
                  <a:pt x="47625" y="95250"/>
                </a:cubicBezTo>
                <a:lnTo>
                  <a:pt x="47625" y="76200"/>
                </a:lnTo>
                <a:lnTo>
                  <a:pt x="57150" y="76200"/>
                </a:lnTo>
                <a:cubicBezTo>
                  <a:pt x="67657" y="76200"/>
                  <a:pt x="76200" y="84743"/>
                  <a:pt x="76200" y="95250"/>
                </a:cubicBezTo>
                <a:lnTo>
                  <a:pt x="76200" y="133350"/>
                </a:lnTo>
                <a:cubicBezTo>
                  <a:pt x="76200" y="143857"/>
                  <a:pt x="67657" y="152400"/>
                  <a:pt x="571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95250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0" name="Text 38"/>
          <p:cNvSpPr/>
          <p:nvPr/>
        </p:nvSpPr>
        <p:spPr>
          <a:xfrm>
            <a:off x="9448800" y="3267075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Diversity Ratio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82100" y="3533775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category variety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10325" y="3952875"/>
            <a:ext cx="5200650" cy="685800"/>
          </a:xfrm>
          <a:custGeom>
            <a:avLst/>
            <a:gdLst/>
            <a:ahLst/>
            <a:cxnLst/>
            <a:rect l="l" t="t" r="r" b="b"/>
            <a:pathLst>
              <a:path w="5200650" h="685800">
                <a:moveTo>
                  <a:pt x="76199" y="0"/>
                </a:moveTo>
                <a:lnTo>
                  <a:pt x="5124451" y="0"/>
                </a:lnTo>
                <a:cubicBezTo>
                  <a:pt x="5166534" y="0"/>
                  <a:pt x="5200650" y="34116"/>
                  <a:pt x="5200650" y="76199"/>
                </a:cubicBezTo>
                <a:lnTo>
                  <a:pt x="5200650" y="609601"/>
                </a:lnTo>
                <a:cubicBezTo>
                  <a:pt x="5200650" y="651684"/>
                  <a:pt x="5166534" y="685800"/>
                  <a:pt x="51244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553200" y="41052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32831" y="0"/>
                  <a:pt x="28575" y="4256"/>
                  <a:pt x="28575" y="9525"/>
                </a:cubicBezTo>
                <a:lnTo>
                  <a:pt x="28575" y="19050"/>
                </a:ln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lnTo>
                  <a:pt x="0" y="52388"/>
                </a:lnTo>
                <a:lnTo>
                  <a:pt x="133350" y="52388"/>
                </a:ln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04775" y="19050"/>
                </a:lnTo>
                <a:lnTo>
                  <a:pt x="104775" y="9525"/>
                </a:lnTo>
                <a:cubicBezTo>
                  <a:pt x="104775" y="4256"/>
                  <a:pt x="100519" y="0"/>
                  <a:pt x="95250" y="0"/>
                </a:cubicBezTo>
                <a:cubicBezTo>
                  <a:pt x="89981" y="0"/>
                  <a:pt x="85725" y="4256"/>
                  <a:pt x="85725" y="9525"/>
                </a:cubicBezTo>
                <a:lnTo>
                  <a:pt x="85725" y="19050"/>
                </a:lnTo>
                <a:lnTo>
                  <a:pt x="47625" y="19050"/>
                </a:lnTo>
                <a:lnTo>
                  <a:pt x="47625" y="9525"/>
                </a:lnTo>
                <a:cubicBezTo>
                  <a:pt x="47625" y="4256"/>
                  <a:pt x="43369" y="0"/>
                  <a:pt x="38100" y="0"/>
                </a:cubicBezTo>
                <a:close/>
                <a:moveTo>
                  <a:pt x="0" y="66675"/>
                </a:move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4" name="Text 42"/>
          <p:cNvSpPr/>
          <p:nvPr/>
        </p:nvSpPr>
        <p:spPr>
          <a:xfrm>
            <a:off x="6791325" y="4067175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Seasonality Ratio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24625" y="4333875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Purchase pattern consistency across time periods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15063" y="4995863"/>
            <a:ext cx="5591175" cy="847725"/>
          </a:xfrm>
          <a:custGeom>
            <a:avLst/>
            <a:gdLst/>
            <a:ahLst/>
            <a:cxnLst/>
            <a:rect l="l" t="t" r="r" b="b"/>
            <a:pathLst>
              <a:path w="5591175" h="847725">
                <a:moveTo>
                  <a:pt x="114299" y="0"/>
                </a:moveTo>
                <a:lnTo>
                  <a:pt x="5476876" y="0"/>
                </a:lnTo>
                <a:cubicBezTo>
                  <a:pt x="5540002" y="0"/>
                  <a:pt x="5591175" y="51173"/>
                  <a:pt x="5591175" y="114299"/>
                </a:cubicBezTo>
                <a:lnTo>
                  <a:pt x="5591175" y="733426"/>
                </a:lnTo>
                <a:cubicBezTo>
                  <a:pt x="5591175" y="796552"/>
                  <a:pt x="5540002" y="847725"/>
                  <a:pt x="5476876" y="847725"/>
                </a:cubicBezTo>
                <a:lnTo>
                  <a:pt x="114299" y="847725"/>
                </a:lnTo>
                <a:cubicBezTo>
                  <a:pt x="51216" y="847725"/>
                  <a:pt x="0" y="796509"/>
                  <a:pt x="0" y="733426"/>
                </a:cubicBezTo>
                <a:lnTo>
                  <a:pt x="0" y="114299"/>
                </a:lnTo>
                <a:cubicBezTo>
                  <a:pt x="0" y="51216"/>
                  <a:pt x="51216" y="0"/>
                  <a:pt x="114299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4A6C82">
                  <a:alpha val="10000"/>
                </a:srgbClr>
              </a:gs>
            </a:gsLst>
            <a:lin ang="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29375" y="53054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8" name="Text 46"/>
          <p:cNvSpPr/>
          <p:nvPr/>
        </p:nvSpPr>
        <p:spPr>
          <a:xfrm>
            <a:off x="6772275" y="5153025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 Goal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772275" y="5457825"/>
            <a:ext cx="484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 </a:t>
            </a: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behavior patterns</a:t>
            </a: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predict future churn probability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2019300" cy="314325"/>
          </a:xfrm>
          <a:custGeom>
            <a:avLst/>
            <a:gdLst/>
            <a:ahLst/>
            <a:cxnLst/>
            <a:rect l="l" t="t" r="r" b="b"/>
            <a:pathLst>
              <a:path w="2019300" h="314325">
                <a:moveTo>
                  <a:pt x="76199" y="0"/>
                </a:moveTo>
                <a:lnTo>
                  <a:pt x="1943101" y="0"/>
                </a:lnTo>
                <a:cubicBezTo>
                  <a:pt x="1985185" y="0"/>
                  <a:pt x="2019300" y="34115"/>
                  <a:pt x="2019300" y="76199"/>
                </a:cubicBezTo>
                <a:lnTo>
                  <a:pt x="2019300" y="238126"/>
                </a:lnTo>
                <a:cubicBezTo>
                  <a:pt x="2019300" y="280210"/>
                  <a:pt x="1985185" y="314325"/>
                  <a:pt x="1943101" y="314325"/>
                </a:cubicBezTo>
                <a:lnTo>
                  <a:pt x="76199" y="314325"/>
                </a:lnTo>
                <a:cubicBezTo>
                  <a:pt x="34115" y="314325"/>
                  <a:pt x="0" y="280210"/>
                  <a:pt x="0" y="238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2925" y="457200"/>
            <a:ext cx="17787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DEVELOPMENT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191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Three-Algorithm Comparison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144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5763" y="1547813"/>
            <a:ext cx="3676650" cy="3838575"/>
          </a:xfrm>
          <a:custGeom>
            <a:avLst/>
            <a:gdLst/>
            <a:ahLst/>
            <a:cxnLst/>
            <a:rect l="l" t="t" r="r" b="b"/>
            <a:pathLst>
              <a:path w="3676650" h="383857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3724268"/>
                </a:lnTo>
                <a:cubicBezTo>
                  <a:pt x="3676650" y="3787398"/>
                  <a:pt x="3625473" y="3838575"/>
                  <a:pt x="3562343" y="3838575"/>
                </a:cubicBezTo>
                <a:lnTo>
                  <a:pt x="114307" y="3838575"/>
                </a:lnTo>
                <a:cubicBezTo>
                  <a:pt x="51177" y="3838575"/>
                  <a:pt x="0" y="3787398"/>
                  <a:pt x="0" y="37242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2">
                  <a:alpha val="20000"/>
                </a:srgbClr>
              </a:gs>
              <a:gs pos="100000">
                <a:srgbClr val="4A6C82">
                  <a:alpha val="5000"/>
                </a:srgbClr>
              </a:gs>
            </a:gsLst>
            <a:lin ang="2700000" scaled="1"/>
          </a:gra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7811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270000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733425" y="19335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28725" y="1743075"/>
            <a:ext cx="1238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Logistic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1025" y="2505075"/>
            <a:ext cx="3286125" cy="685800"/>
          </a:xfrm>
          <a:custGeom>
            <a:avLst/>
            <a:gdLst/>
            <a:ahLst/>
            <a:cxnLst/>
            <a:rect l="l" t="t" r="r" b="b"/>
            <a:pathLst>
              <a:path w="3286125" h="685800">
                <a:moveTo>
                  <a:pt x="76199" y="0"/>
                </a:moveTo>
                <a:lnTo>
                  <a:pt x="3209926" y="0"/>
                </a:lnTo>
                <a:cubicBezTo>
                  <a:pt x="3252009" y="0"/>
                  <a:pt x="3286125" y="34116"/>
                  <a:pt x="3286125" y="76199"/>
                </a:cubicBezTo>
                <a:lnTo>
                  <a:pt x="3286125" y="609601"/>
                </a:lnTo>
                <a:cubicBezTo>
                  <a:pt x="3286125" y="651684"/>
                  <a:pt x="3252009" y="685800"/>
                  <a:pt x="32099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95325" y="261937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5325" y="284797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 Classifier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1025" y="3305175"/>
            <a:ext cx="3286125" cy="1104900"/>
          </a:xfrm>
          <a:custGeom>
            <a:avLst/>
            <a:gdLst/>
            <a:ahLst/>
            <a:cxnLst/>
            <a:rect l="l" t="t" r="r" b="b"/>
            <a:pathLst>
              <a:path w="3286125" h="1104900">
                <a:moveTo>
                  <a:pt x="76205" y="0"/>
                </a:moveTo>
                <a:lnTo>
                  <a:pt x="3209920" y="0"/>
                </a:lnTo>
                <a:cubicBezTo>
                  <a:pt x="3252007" y="0"/>
                  <a:pt x="3286125" y="34118"/>
                  <a:pt x="3286125" y="76205"/>
                </a:cubicBezTo>
                <a:lnTo>
                  <a:pt x="3286125" y="1028695"/>
                </a:lnTo>
                <a:cubicBezTo>
                  <a:pt x="3286125" y="1070782"/>
                  <a:pt x="3252007" y="1104900"/>
                  <a:pt x="320992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95325" y="341947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5325" y="364807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Interpretable coefficients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5325" y="387667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Fast training &amp; inference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5325" y="410527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Good baseline performance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1025" y="4524375"/>
            <a:ext cx="3286125" cy="647700"/>
          </a:xfrm>
          <a:custGeom>
            <a:avLst/>
            <a:gdLst/>
            <a:ahLst/>
            <a:cxnLst/>
            <a:rect l="l" t="t" r="r" b="b"/>
            <a:pathLst>
              <a:path w="3286125" h="647700">
                <a:moveTo>
                  <a:pt x="76202" y="0"/>
                </a:moveTo>
                <a:lnTo>
                  <a:pt x="3209923" y="0"/>
                </a:lnTo>
                <a:cubicBezTo>
                  <a:pt x="3252008" y="0"/>
                  <a:pt x="3286125" y="34117"/>
                  <a:pt x="3286125" y="76202"/>
                </a:cubicBezTo>
                <a:lnTo>
                  <a:pt x="3286125" y="571498"/>
                </a:lnTo>
                <a:cubicBezTo>
                  <a:pt x="3286125" y="613583"/>
                  <a:pt x="3252008" y="647700"/>
                  <a:pt x="32099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95325" y="463867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5325" y="486727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Probability estimation with explainability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59163" y="1547813"/>
            <a:ext cx="3676650" cy="3838575"/>
          </a:xfrm>
          <a:custGeom>
            <a:avLst/>
            <a:gdLst/>
            <a:ahLst/>
            <a:cxnLst/>
            <a:rect l="l" t="t" r="r" b="b"/>
            <a:pathLst>
              <a:path w="3676650" h="383857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3724268"/>
                </a:lnTo>
                <a:cubicBezTo>
                  <a:pt x="3676650" y="3787398"/>
                  <a:pt x="3625473" y="3838575"/>
                  <a:pt x="3562343" y="3838575"/>
                </a:cubicBezTo>
                <a:lnTo>
                  <a:pt x="114307" y="3838575"/>
                </a:lnTo>
                <a:cubicBezTo>
                  <a:pt x="51177" y="3838575"/>
                  <a:pt x="0" y="3787398"/>
                  <a:pt x="0" y="37242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54426" y="17811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270000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4621113" y="19335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-14287"/>
                </a:moveTo>
                <a:cubicBezTo>
                  <a:pt x="103138" y="-14287"/>
                  <a:pt x="106129" y="-12903"/>
                  <a:pt x="108183" y="-10492"/>
                </a:cubicBezTo>
                <a:lnTo>
                  <a:pt x="168905" y="60945"/>
                </a:lnTo>
                <a:cubicBezTo>
                  <a:pt x="171629" y="64115"/>
                  <a:pt x="172209" y="68580"/>
                  <a:pt x="170468" y="72375"/>
                </a:cubicBezTo>
                <a:cubicBezTo>
                  <a:pt x="168726" y="76170"/>
                  <a:pt x="164931" y="78581"/>
                  <a:pt x="160734" y="78581"/>
                </a:cubicBezTo>
                <a:lnTo>
                  <a:pt x="149617" y="78581"/>
                </a:lnTo>
                <a:lnTo>
                  <a:pt x="183193" y="118095"/>
                </a:lnTo>
                <a:cubicBezTo>
                  <a:pt x="185916" y="121265"/>
                  <a:pt x="186497" y="125730"/>
                  <a:pt x="184755" y="129525"/>
                </a:cubicBezTo>
                <a:cubicBezTo>
                  <a:pt x="183014" y="133320"/>
                  <a:pt x="179219" y="135731"/>
                  <a:pt x="175022" y="135731"/>
                </a:cubicBezTo>
                <a:lnTo>
                  <a:pt x="157832" y="135731"/>
                </a:lnTo>
                <a:lnTo>
                  <a:pt x="197480" y="182389"/>
                </a:lnTo>
                <a:cubicBezTo>
                  <a:pt x="200204" y="185559"/>
                  <a:pt x="200784" y="190024"/>
                  <a:pt x="199043" y="193819"/>
                </a:cubicBezTo>
                <a:cubicBezTo>
                  <a:pt x="197301" y="197614"/>
                  <a:pt x="193506" y="200025"/>
                  <a:pt x="189309" y="200025"/>
                </a:cubicBezTo>
                <a:lnTo>
                  <a:pt x="114300" y="200025"/>
                </a:lnTo>
                <a:lnTo>
                  <a:pt x="114300" y="228600"/>
                </a:lnTo>
                <a:cubicBezTo>
                  <a:pt x="114300" y="236503"/>
                  <a:pt x="107915" y="242888"/>
                  <a:pt x="100013" y="242888"/>
                </a:cubicBezTo>
                <a:cubicBezTo>
                  <a:pt x="92110" y="242888"/>
                  <a:pt x="85725" y="236503"/>
                  <a:pt x="85725" y="228600"/>
                </a:cubicBezTo>
                <a:lnTo>
                  <a:pt x="85725" y="200025"/>
                </a:lnTo>
                <a:lnTo>
                  <a:pt x="10716" y="200025"/>
                </a:lnTo>
                <a:cubicBezTo>
                  <a:pt x="6519" y="200025"/>
                  <a:pt x="2724" y="197614"/>
                  <a:pt x="982" y="193819"/>
                </a:cubicBezTo>
                <a:cubicBezTo>
                  <a:pt x="-759" y="190024"/>
                  <a:pt x="-179" y="185559"/>
                  <a:pt x="2545" y="182389"/>
                </a:cubicBezTo>
                <a:lnTo>
                  <a:pt x="42193" y="135731"/>
                </a:lnTo>
                <a:lnTo>
                  <a:pt x="25003" y="135731"/>
                </a:lnTo>
                <a:cubicBezTo>
                  <a:pt x="20806" y="135731"/>
                  <a:pt x="17011" y="133320"/>
                  <a:pt x="15270" y="129525"/>
                </a:cubicBezTo>
                <a:cubicBezTo>
                  <a:pt x="13528" y="125730"/>
                  <a:pt x="14109" y="121265"/>
                  <a:pt x="16832" y="118095"/>
                </a:cubicBezTo>
                <a:lnTo>
                  <a:pt x="50408" y="78581"/>
                </a:lnTo>
                <a:lnTo>
                  <a:pt x="39291" y="78581"/>
                </a:lnTo>
                <a:cubicBezTo>
                  <a:pt x="35094" y="78581"/>
                  <a:pt x="31299" y="76170"/>
                  <a:pt x="29557" y="72375"/>
                </a:cubicBezTo>
                <a:cubicBezTo>
                  <a:pt x="27816" y="68580"/>
                  <a:pt x="28396" y="64115"/>
                  <a:pt x="31120" y="60945"/>
                </a:cubicBezTo>
                <a:lnTo>
                  <a:pt x="91842" y="-10492"/>
                </a:lnTo>
                <a:cubicBezTo>
                  <a:pt x="93896" y="-12903"/>
                  <a:pt x="96887" y="-14287"/>
                  <a:pt x="100013" y="-1428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102126" y="1743075"/>
            <a:ext cx="952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</a:t>
            </a:r>
            <a:endParaRPr lang="en-US" sz="1600" dirty="0"/>
          </a:p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Forest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54426" y="2505075"/>
            <a:ext cx="3286125" cy="685800"/>
          </a:xfrm>
          <a:custGeom>
            <a:avLst/>
            <a:gdLst/>
            <a:ahLst/>
            <a:cxnLst/>
            <a:rect l="l" t="t" r="r" b="b"/>
            <a:pathLst>
              <a:path w="3286125" h="685800">
                <a:moveTo>
                  <a:pt x="76199" y="0"/>
                </a:moveTo>
                <a:lnTo>
                  <a:pt x="3209926" y="0"/>
                </a:lnTo>
                <a:cubicBezTo>
                  <a:pt x="3252009" y="0"/>
                  <a:pt x="3286125" y="34116"/>
                  <a:pt x="3286125" y="76199"/>
                </a:cubicBezTo>
                <a:lnTo>
                  <a:pt x="3286125" y="609601"/>
                </a:lnTo>
                <a:cubicBezTo>
                  <a:pt x="3286125" y="651684"/>
                  <a:pt x="3252009" y="685800"/>
                  <a:pt x="32099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568726" y="261937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68726" y="284797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(Bagging)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54426" y="3305175"/>
            <a:ext cx="3286125" cy="1104900"/>
          </a:xfrm>
          <a:custGeom>
            <a:avLst/>
            <a:gdLst/>
            <a:ahLst/>
            <a:cxnLst/>
            <a:rect l="l" t="t" r="r" b="b"/>
            <a:pathLst>
              <a:path w="3286125" h="1104900">
                <a:moveTo>
                  <a:pt x="76205" y="0"/>
                </a:moveTo>
                <a:lnTo>
                  <a:pt x="3209920" y="0"/>
                </a:lnTo>
                <a:cubicBezTo>
                  <a:pt x="3252007" y="0"/>
                  <a:pt x="3286125" y="34118"/>
                  <a:pt x="3286125" y="76205"/>
                </a:cubicBezTo>
                <a:lnTo>
                  <a:pt x="3286125" y="1028695"/>
                </a:lnTo>
                <a:cubicBezTo>
                  <a:pt x="3286125" y="1070782"/>
                  <a:pt x="3252007" y="1104900"/>
                  <a:pt x="320992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568726" y="341947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68726" y="364807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Handles non-linearity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568726" y="387667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Feature importance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68726" y="410527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Reduces overfitting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54426" y="4524375"/>
            <a:ext cx="3286125" cy="647700"/>
          </a:xfrm>
          <a:custGeom>
            <a:avLst/>
            <a:gdLst/>
            <a:ahLst/>
            <a:cxnLst/>
            <a:rect l="l" t="t" r="r" b="b"/>
            <a:pathLst>
              <a:path w="3286125" h="647700">
                <a:moveTo>
                  <a:pt x="76202" y="0"/>
                </a:moveTo>
                <a:lnTo>
                  <a:pt x="3209923" y="0"/>
                </a:lnTo>
                <a:cubicBezTo>
                  <a:pt x="3252008" y="0"/>
                  <a:pt x="3286125" y="34117"/>
                  <a:pt x="3286125" y="76202"/>
                </a:cubicBezTo>
                <a:lnTo>
                  <a:pt x="3286125" y="571498"/>
                </a:lnTo>
                <a:cubicBezTo>
                  <a:pt x="3286125" y="613583"/>
                  <a:pt x="3252008" y="647700"/>
                  <a:pt x="32099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568726" y="463867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68726" y="486727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 pattern recognition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32713" y="1547813"/>
            <a:ext cx="3676650" cy="3838575"/>
          </a:xfrm>
          <a:custGeom>
            <a:avLst/>
            <a:gdLst/>
            <a:ahLst/>
            <a:cxnLst/>
            <a:rect l="l" t="t" r="r" b="b"/>
            <a:pathLst>
              <a:path w="3676650" h="383857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3724268"/>
                </a:lnTo>
                <a:cubicBezTo>
                  <a:pt x="3676650" y="3787398"/>
                  <a:pt x="3625473" y="3838575"/>
                  <a:pt x="3562343" y="3838575"/>
                </a:cubicBezTo>
                <a:lnTo>
                  <a:pt x="114307" y="3838575"/>
                </a:lnTo>
                <a:cubicBezTo>
                  <a:pt x="51177" y="3838575"/>
                  <a:pt x="0" y="3787398"/>
                  <a:pt x="0" y="37242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2">
                  <a:alpha val="20000"/>
                </a:srgbClr>
              </a:gs>
              <a:gs pos="100000">
                <a:srgbClr val="4A6C82">
                  <a:alpha val="5000"/>
                </a:srgbClr>
              </a:gs>
            </a:gsLst>
            <a:lin ang="2700000" scaled="1"/>
          </a:gra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7975" y="17430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2700000" scaled="1"/>
          </a:gradFill>
          <a:ln/>
        </p:spPr>
      </p:sp>
      <p:sp>
        <p:nvSpPr>
          <p:cNvPr id="38" name="Shape 36"/>
          <p:cNvSpPr/>
          <p:nvPr/>
        </p:nvSpPr>
        <p:spPr>
          <a:xfrm>
            <a:off x="8494663" y="18954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8975675" y="1857375"/>
            <a:ext cx="1009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XGBoost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27975" y="2428875"/>
            <a:ext cx="3286125" cy="685800"/>
          </a:xfrm>
          <a:custGeom>
            <a:avLst/>
            <a:gdLst/>
            <a:ahLst/>
            <a:cxnLst/>
            <a:rect l="l" t="t" r="r" b="b"/>
            <a:pathLst>
              <a:path w="3286125" h="685800">
                <a:moveTo>
                  <a:pt x="76199" y="0"/>
                </a:moveTo>
                <a:lnTo>
                  <a:pt x="3209926" y="0"/>
                </a:lnTo>
                <a:cubicBezTo>
                  <a:pt x="3252009" y="0"/>
                  <a:pt x="3286125" y="34116"/>
                  <a:pt x="3286125" y="76199"/>
                </a:cubicBezTo>
                <a:lnTo>
                  <a:pt x="3286125" y="609601"/>
                </a:lnTo>
                <a:cubicBezTo>
                  <a:pt x="3286125" y="651684"/>
                  <a:pt x="3252009" y="685800"/>
                  <a:pt x="320992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442275" y="254317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42275" y="277177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Gradient Boosting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27975" y="3228975"/>
            <a:ext cx="3286125" cy="1104900"/>
          </a:xfrm>
          <a:custGeom>
            <a:avLst/>
            <a:gdLst/>
            <a:ahLst/>
            <a:cxnLst/>
            <a:rect l="l" t="t" r="r" b="b"/>
            <a:pathLst>
              <a:path w="3286125" h="1104900">
                <a:moveTo>
                  <a:pt x="76205" y="0"/>
                </a:moveTo>
                <a:lnTo>
                  <a:pt x="3209920" y="0"/>
                </a:lnTo>
                <a:cubicBezTo>
                  <a:pt x="3252007" y="0"/>
                  <a:pt x="3286125" y="34118"/>
                  <a:pt x="3286125" y="76205"/>
                </a:cubicBezTo>
                <a:lnTo>
                  <a:pt x="3286125" y="1028695"/>
                </a:lnTo>
                <a:cubicBezTo>
                  <a:pt x="3286125" y="1070782"/>
                  <a:pt x="3252007" y="1104900"/>
                  <a:pt x="3209920" y="1104900"/>
                </a:cubicBezTo>
                <a:lnTo>
                  <a:pt x="76205" y="1104900"/>
                </a:lnTo>
                <a:cubicBezTo>
                  <a:pt x="34118" y="1104900"/>
                  <a:pt x="0" y="1070782"/>
                  <a:pt x="0" y="10286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442275" y="334327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442275" y="357187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State-of-the-art performance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442275" y="380047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Regularization built-in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442275" y="402907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Efficient handling of missing values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27975" y="4448175"/>
            <a:ext cx="3286125" cy="647700"/>
          </a:xfrm>
          <a:custGeom>
            <a:avLst/>
            <a:gdLst/>
            <a:ahLst/>
            <a:cxnLst/>
            <a:rect l="l" t="t" r="r" b="b"/>
            <a:pathLst>
              <a:path w="3286125" h="647700">
                <a:moveTo>
                  <a:pt x="76202" y="0"/>
                </a:moveTo>
                <a:lnTo>
                  <a:pt x="3209923" y="0"/>
                </a:lnTo>
                <a:cubicBezTo>
                  <a:pt x="3252008" y="0"/>
                  <a:pt x="3286125" y="34117"/>
                  <a:pt x="3286125" y="76202"/>
                </a:cubicBezTo>
                <a:lnTo>
                  <a:pt x="3286125" y="571498"/>
                </a:lnTo>
                <a:cubicBezTo>
                  <a:pt x="3286125" y="613583"/>
                  <a:pt x="3252008" y="647700"/>
                  <a:pt x="3209923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8442275" y="456247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442275" y="479107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High-performance prediction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85763" y="5586413"/>
            <a:ext cx="11420475" cy="885825"/>
          </a:xfrm>
          <a:custGeom>
            <a:avLst/>
            <a:gdLst/>
            <a:ahLst/>
            <a:cxnLst/>
            <a:rect l="l" t="t" r="r" b="b"/>
            <a:pathLst>
              <a:path w="11420475" h="885825">
                <a:moveTo>
                  <a:pt x="114298" y="0"/>
                </a:moveTo>
                <a:lnTo>
                  <a:pt x="11306177" y="0"/>
                </a:lnTo>
                <a:cubicBezTo>
                  <a:pt x="11369260" y="0"/>
                  <a:pt x="11420475" y="51215"/>
                  <a:pt x="11420475" y="114298"/>
                </a:cubicBezTo>
                <a:lnTo>
                  <a:pt x="11420475" y="771527"/>
                </a:lnTo>
                <a:cubicBezTo>
                  <a:pt x="11420475" y="834610"/>
                  <a:pt x="11369260" y="885825"/>
                  <a:pt x="11306177" y="885825"/>
                </a:cubicBezTo>
                <a:lnTo>
                  <a:pt x="114298" y="885825"/>
                </a:lnTo>
                <a:cubicBezTo>
                  <a:pt x="51215" y="885825"/>
                  <a:pt x="0" y="834610"/>
                  <a:pt x="0" y="7715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4A6C82">
                  <a:alpha val="10000"/>
                </a:srgbClr>
              </a:gs>
            </a:gsLst>
            <a:lin ang="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5306" y="5886450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32116" y="117481"/>
                </a:moveTo>
                <a:cubicBezTo>
                  <a:pt x="238925" y="115639"/>
                  <a:pt x="246069" y="118876"/>
                  <a:pt x="249138" y="125183"/>
                </a:cubicBezTo>
                <a:lnTo>
                  <a:pt x="259519" y="146168"/>
                </a:lnTo>
                <a:cubicBezTo>
                  <a:pt x="265268" y="146949"/>
                  <a:pt x="270904" y="148512"/>
                  <a:pt x="276206" y="150688"/>
                </a:cubicBezTo>
                <a:lnTo>
                  <a:pt x="295740" y="137685"/>
                </a:lnTo>
                <a:cubicBezTo>
                  <a:pt x="301600" y="133778"/>
                  <a:pt x="309358" y="134559"/>
                  <a:pt x="314325" y="139526"/>
                </a:cubicBezTo>
                <a:lnTo>
                  <a:pt x="325041" y="150242"/>
                </a:lnTo>
                <a:cubicBezTo>
                  <a:pt x="330008" y="155209"/>
                  <a:pt x="330789" y="163023"/>
                  <a:pt x="326882" y="168827"/>
                </a:cubicBezTo>
                <a:lnTo>
                  <a:pt x="313879" y="188305"/>
                </a:lnTo>
                <a:cubicBezTo>
                  <a:pt x="314939" y="190928"/>
                  <a:pt x="315888" y="193663"/>
                  <a:pt x="316669" y="196509"/>
                </a:cubicBezTo>
                <a:cubicBezTo>
                  <a:pt x="317450" y="199355"/>
                  <a:pt x="317953" y="202146"/>
                  <a:pt x="318343" y="204992"/>
                </a:cubicBezTo>
                <a:lnTo>
                  <a:pt x="339384" y="215373"/>
                </a:lnTo>
                <a:cubicBezTo>
                  <a:pt x="345691" y="218498"/>
                  <a:pt x="348928" y="225642"/>
                  <a:pt x="347086" y="232395"/>
                </a:cubicBezTo>
                <a:lnTo>
                  <a:pt x="343179" y="247017"/>
                </a:lnTo>
                <a:cubicBezTo>
                  <a:pt x="341337" y="253771"/>
                  <a:pt x="335031" y="258347"/>
                  <a:pt x="327999" y="257901"/>
                </a:cubicBezTo>
                <a:lnTo>
                  <a:pt x="304558" y="256394"/>
                </a:lnTo>
                <a:cubicBezTo>
                  <a:pt x="301042" y="260914"/>
                  <a:pt x="296968" y="265100"/>
                  <a:pt x="292336" y="268672"/>
                </a:cubicBezTo>
                <a:lnTo>
                  <a:pt x="293843" y="292057"/>
                </a:lnTo>
                <a:cubicBezTo>
                  <a:pt x="294289" y="299089"/>
                  <a:pt x="289713" y="305451"/>
                  <a:pt x="282959" y="307237"/>
                </a:cubicBezTo>
                <a:lnTo>
                  <a:pt x="268337" y="311144"/>
                </a:lnTo>
                <a:cubicBezTo>
                  <a:pt x="261528" y="312986"/>
                  <a:pt x="254440" y="309749"/>
                  <a:pt x="251315" y="303442"/>
                </a:cubicBezTo>
                <a:lnTo>
                  <a:pt x="240934" y="282457"/>
                </a:lnTo>
                <a:cubicBezTo>
                  <a:pt x="235186" y="281676"/>
                  <a:pt x="229549" y="280113"/>
                  <a:pt x="224247" y="277937"/>
                </a:cubicBezTo>
                <a:lnTo>
                  <a:pt x="204713" y="290940"/>
                </a:lnTo>
                <a:cubicBezTo>
                  <a:pt x="198853" y="294847"/>
                  <a:pt x="191095" y="294066"/>
                  <a:pt x="186128" y="289099"/>
                </a:cubicBezTo>
                <a:lnTo>
                  <a:pt x="175413" y="278383"/>
                </a:lnTo>
                <a:cubicBezTo>
                  <a:pt x="170445" y="273416"/>
                  <a:pt x="169664" y="265658"/>
                  <a:pt x="173571" y="259798"/>
                </a:cubicBezTo>
                <a:lnTo>
                  <a:pt x="186575" y="240264"/>
                </a:lnTo>
                <a:cubicBezTo>
                  <a:pt x="185514" y="237641"/>
                  <a:pt x="184565" y="234907"/>
                  <a:pt x="183784" y="232060"/>
                </a:cubicBezTo>
                <a:cubicBezTo>
                  <a:pt x="183003" y="229214"/>
                  <a:pt x="182500" y="226368"/>
                  <a:pt x="182110" y="223577"/>
                </a:cubicBezTo>
                <a:lnTo>
                  <a:pt x="161069" y="213196"/>
                </a:lnTo>
                <a:cubicBezTo>
                  <a:pt x="154763" y="210071"/>
                  <a:pt x="151581" y="202927"/>
                  <a:pt x="153367" y="196174"/>
                </a:cubicBezTo>
                <a:lnTo>
                  <a:pt x="157274" y="181552"/>
                </a:lnTo>
                <a:cubicBezTo>
                  <a:pt x="159116" y="174799"/>
                  <a:pt x="165422" y="170222"/>
                  <a:pt x="172455" y="170669"/>
                </a:cubicBezTo>
                <a:lnTo>
                  <a:pt x="195839" y="172176"/>
                </a:lnTo>
                <a:cubicBezTo>
                  <a:pt x="199355" y="167655"/>
                  <a:pt x="203429" y="163469"/>
                  <a:pt x="208062" y="159897"/>
                </a:cubicBezTo>
                <a:lnTo>
                  <a:pt x="206555" y="136568"/>
                </a:lnTo>
                <a:cubicBezTo>
                  <a:pt x="206108" y="129536"/>
                  <a:pt x="210685" y="123174"/>
                  <a:pt x="217438" y="121388"/>
                </a:cubicBezTo>
                <a:lnTo>
                  <a:pt x="232060" y="117481"/>
                </a:lnTo>
                <a:close/>
                <a:moveTo>
                  <a:pt x="250254" y="189756"/>
                </a:moveTo>
                <a:cubicBezTo>
                  <a:pt x="236701" y="189771"/>
                  <a:pt x="225710" y="200787"/>
                  <a:pt x="225726" y="214340"/>
                </a:cubicBezTo>
                <a:cubicBezTo>
                  <a:pt x="225741" y="227894"/>
                  <a:pt x="236757" y="238885"/>
                  <a:pt x="250310" y="238869"/>
                </a:cubicBezTo>
                <a:cubicBezTo>
                  <a:pt x="263863" y="238854"/>
                  <a:pt x="274854" y="227838"/>
                  <a:pt x="274839" y="214285"/>
                </a:cubicBezTo>
                <a:cubicBezTo>
                  <a:pt x="274824" y="200731"/>
                  <a:pt x="263808" y="189740"/>
                  <a:pt x="250254" y="189756"/>
                </a:cubicBezTo>
                <a:close/>
                <a:moveTo>
                  <a:pt x="125518" y="-25394"/>
                </a:moveTo>
                <a:lnTo>
                  <a:pt x="140140" y="-21487"/>
                </a:lnTo>
                <a:cubicBezTo>
                  <a:pt x="146893" y="-19645"/>
                  <a:pt x="151470" y="-13283"/>
                  <a:pt x="151023" y="-6307"/>
                </a:cubicBezTo>
                <a:lnTo>
                  <a:pt x="149516" y="17022"/>
                </a:lnTo>
                <a:cubicBezTo>
                  <a:pt x="154149" y="20594"/>
                  <a:pt x="158223" y="24724"/>
                  <a:pt x="161739" y="29301"/>
                </a:cubicBezTo>
                <a:lnTo>
                  <a:pt x="185179" y="27794"/>
                </a:lnTo>
                <a:cubicBezTo>
                  <a:pt x="192156" y="27347"/>
                  <a:pt x="198518" y="31924"/>
                  <a:pt x="200360" y="38677"/>
                </a:cubicBezTo>
                <a:lnTo>
                  <a:pt x="204267" y="53299"/>
                </a:lnTo>
                <a:cubicBezTo>
                  <a:pt x="206053" y="60052"/>
                  <a:pt x="202871" y="67196"/>
                  <a:pt x="196565" y="70321"/>
                </a:cubicBezTo>
                <a:lnTo>
                  <a:pt x="175524" y="80702"/>
                </a:lnTo>
                <a:cubicBezTo>
                  <a:pt x="175133" y="83548"/>
                  <a:pt x="174575" y="86395"/>
                  <a:pt x="173850" y="89185"/>
                </a:cubicBezTo>
                <a:cubicBezTo>
                  <a:pt x="173124" y="91976"/>
                  <a:pt x="172120" y="94766"/>
                  <a:pt x="171059" y="97389"/>
                </a:cubicBezTo>
                <a:lnTo>
                  <a:pt x="184063" y="116923"/>
                </a:lnTo>
                <a:cubicBezTo>
                  <a:pt x="187970" y="122783"/>
                  <a:pt x="187189" y="130541"/>
                  <a:pt x="182221" y="135508"/>
                </a:cubicBezTo>
                <a:lnTo>
                  <a:pt x="171506" y="146224"/>
                </a:lnTo>
                <a:cubicBezTo>
                  <a:pt x="166539" y="151191"/>
                  <a:pt x="158781" y="151972"/>
                  <a:pt x="152921" y="148065"/>
                </a:cubicBezTo>
                <a:lnTo>
                  <a:pt x="133387" y="135062"/>
                </a:lnTo>
                <a:cubicBezTo>
                  <a:pt x="128085" y="137238"/>
                  <a:pt x="122448" y="138801"/>
                  <a:pt x="116700" y="139582"/>
                </a:cubicBezTo>
                <a:lnTo>
                  <a:pt x="106319" y="160567"/>
                </a:lnTo>
                <a:cubicBezTo>
                  <a:pt x="103194" y="166874"/>
                  <a:pt x="96050" y="170055"/>
                  <a:pt x="89297" y="168269"/>
                </a:cubicBezTo>
                <a:lnTo>
                  <a:pt x="74675" y="164362"/>
                </a:lnTo>
                <a:cubicBezTo>
                  <a:pt x="67866" y="162520"/>
                  <a:pt x="63345" y="156158"/>
                  <a:pt x="63791" y="149182"/>
                </a:cubicBezTo>
                <a:lnTo>
                  <a:pt x="65298" y="125797"/>
                </a:lnTo>
                <a:cubicBezTo>
                  <a:pt x="60666" y="122225"/>
                  <a:pt x="56592" y="118095"/>
                  <a:pt x="53076" y="113519"/>
                </a:cubicBezTo>
                <a:lnTo>
                  <a:pt x="29635" y="115026"/>
                </a:lnTo>
                <a:cubicBezTo>
                  <a:pt x="22659" y="115472"/>
                  <a:pt x="16297" y="110896"/>
                  <a:pt x="14455" y="104142"/>
                </a:cubicBezTo>
                <a:lnTo>
                  <a:pt x="10548" y="89520"/>
                </a:lnTo>
                <a:cubicBezTo>
                  <a:pt x="8762" y="82767"/>
                  <a:pt x="11943" y="75623"/>
                  <a:pt x="18250" y="72498"/>
                </a:cubicBezTo>
                <a:lnTo>
                  <a:pt x="39291" y="62117"/>
                </a:lnTo>
                <a:cubicBezTo>
                  <a:pt x="39681" y="59271"/>
                  <a:pt x="40239" y="56480"/>
                  <a:pt x="40965" y="53634"/>
                </a:cubicBezTo>
                <a:cubicBezTo>
                  <a:pt x="41746" y="50788"/>
                  <a:pt x="42639" y="48053"/>
                  <a:pt x="43755" y="45430"/>
                </a:cubicBezTo>
                <a:lnTo>
                  <a:pt x="30752" y="25952"/>
                </a:lnTo>
                <a:cubicBezTo>
                  <a:pt x="26845" y="20092"/>
                  <a:pt x="27626" y="12334"/>
                  <a:pt x="32593" y="7367"/>
                </a:cubicBezTo>
                <a:lnTo>
                  <a:pt x="43309" y="-3349"/>
                </a:lnTo>
                <a:cubicBezTo>
                  <a:pt x="48276" y="-8316"/>
                  <a:pt x="56034" y="-9097"/>
                  <a:pt x="61894" y="-5190"/>
                </a:cubicBezTo>
                <a:lnTo>
                  <a:pt x="81428" y="7813"/>
                </a:lnTo>
                <a:cubicBezTo>
                  <a:pt x="86730" y="5637"/>
                  <a:pt x="92366" y="4074"/>
                  <a:pt x="98115" y="3293"/>
                </a:cubicBezTo>
                <a:lnTo>
                  <a:pt x="108496" y="-17692"/>
                </a:lnTo>
                <a:cubicBezTo>
                  <a:pt x="111621" y="-23999"/>
                  <a:pt x="118709" y="-27180"/>
                  <a:pt x="125518" y="-25394"/>
                </a:cubicBezTo>
                <a:close/>
                <a:moveTo>
                  <a:pt x="107379" y="46881"/>
                </a:moveTo>
                <a:cubicBezTo>
                  <a:pt x="93826" y="46881"/>
                  <a:pt x="82823" y="57884"/>
                  <a:pt x="82823" y="71438"/>
                </a:cubicBezTo>
                <a:cubicBezTo>
                  <a:pt x="82823" y="84991"/>
                  <a:pt x="93826" y="95994"/>
                  <a:pt x="107379" y="95994"/>
                </a:cubicBezTo>
                <a:cubicBezTo>
                  <a:pt x="120933" y="95994"/>
                  <a:pt x="131936" y="84991"/>
                  <a:pt x="131936" y="71438"/>
                </a:cubicBezTo>
                <a:cubicBezTo>
                  <a:pt x="131936" y="57884"/>
                  <a:pt x="120933" y="46881"/>
                  <a:pt x="107379" y="46881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53" name="Text 51"/>
          <p:cNvSpPr/>
          <p:nvPr/>
        </p:nvSpPr>
        <p:spPr>
          <a:xfrm>
            <a:off x="1052513" y="5743575"/>
            <a:ext cx="10696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Configuration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52513" y="6086475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Train/Test Split:</a:t>
            </a: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80/20 with stratification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027587" y="6086475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State:</a:t>
            </a: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42 (reproducibility)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580436" y="6086475"/>
            <a:ext cx="3733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Preprocessing:</a:t>
            </a: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StandardScaler for feature normalization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2380" y="372380"/>
            <a:ext cx="1912471" cy="303421"/>
          </a:xfrm>
          <a:custGeom>
            <a:avLst/>
            <a:gdLst/>
            <a:ahLst/>
            <a:cxnLst/>
            <a:rect l="l" t="t" r="r" b="b"/>
            <a:pathLst>
              <a:path w="1912471" h="303421">
                <a:moveTo>
                  <a:pt x="73555" y="0"/>
                </a:moveTo>
                <a:lnTo>
                  <a:pt x="1838915" y="0"/>
                </a:lnTo>
                <a:cubicBezTo>
                  <a:pt x="1879539" y="0"/>
                  <a:pt x="1912471" y="32932"/>
                  <a:pt x="1912471" y="73555"/>
                </a:cubicBezTo>
                <a:lnTo>
                  <a:pt x="1912471" y="229866"/>
                </a:lnTo>
                <a:cubicBezTo>
                  <a:pt x="1912471" y="270489"/>
                  <a:pt x="1879539" y="303421"/>
                  <a:pt x="1838915" y="303421"/>
                </a:cubicBezTo>
                <a:lnTo>
                  <a:pt x="73555" y="303421"/>
                </a:lnTo>
                <a:cubicBezTo>
                  <a:pt x="32959" y="303421"/>
                  <a:pt x="0" y="270462"/>
                  <a:pt x="0" y="229866"/>
                </a:cubicBezTo>
                <a:lnTo>
                  <a:pt x="0" y="73555"/>
                </a:lnTo>
                <a:cubicBezTo>
                  <a:pt x="0" y="32932"/>
                  <a:pt x="32932" y="0"/>
                  <a:pt x="73555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4090" y="441339"/>
            <a:ext cx="1686198" cy="165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kern="0" spc="58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 RESULTS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7783" y="790733"/>
            <a:ext cx="11621937" cy="367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6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 Comparison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7783" y="1268851"/>
            <a:ext cx="1176905" cy="36778"/>
          </a:xfrm>
          <a:custGeom>
            <a:avLst/>
            <a:gdLst/>
            <a:ahLst/>
            <a:cxnLst/>
            <a:rect l="l" t="t" r="r" b="b"/>
            <a:pathLst>
              <a:path w="1176905" h="36778">
                <a:moveTo>
                  <a:pt x="0" y="0"/>
                </a:moveTo>
                <a:lnTo>
                  <a:pt x="1176905" y="0"/>
                </a:lnTo>
                <a:lnTo>
                  <a:pt x="1176905" y="36778"/>
                </a:lnTo>
                <a:lnTo>
                  <a:pt x="0" y="3677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72380" y="1494118"/>
            <a:ext cx="6776398" cy="5360434"/>
          </a:xfrm>
          <a:custGeom>
            <a:avLst/>
            <a:gdLst/>
            <a:ahLst/>
            <a:cxnLst/>
            <a:rect l="l" t="t" r="r" b="b"/>
            <a:pathLst>
              <a:path w="6776398" h="5360434">
                <a:moveTo>
                  <a:pt x="110318" y="0"/>
                </a:moveTo>
                <a:lnTo>
                  <a:pt x="6666080" y="0"/>
                </a:lnTo>
                <a:cubicBezTo>
                  <a:pt x="6727007" y="0"/>
                  <a:pt x="6776398" y="49391"/>
                  <a:pt x="6776398" y="110318"/>
                </a:cubicBezTo>
                <a:lnTo>
                  <a:pt x="6776398" y="5250117"/>
                </a:lnTo>
                <a:cubicBezTo>
                  <a:pt x="6776398" y="5311043"/>
                  <a:pt x="6727007" y="5360434"/>
                  <a:pt x="6666080" y="5360434"/>
                </a:cubicBezTo>
                <a:lnTo>
                  <a:pt x="110318" y="5360434"/>
                </a:lnTo>
                <a:cubicBezTo>
                  <a:pt x="49391" y="5360434"/>
                  <a:pt x="0" y="5311043"/>
                  <a:pt x="0" y="5250117"/>
                </a:cubicBezTo>
                <a:lnTo>
                  <a:pt x="0" y="110318"/>
                </a:lnTo>
                <a:cubicBezTo>
                  <a:pt x="0" y="49432"/>
                  <a:pt x="49432" y="0"/>
                  <a:pt x="110318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5701" y="1682606"/>
            <a:ext cx="6509756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8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Metrics</a:t>
            </a:r>
            <a:endParaRPr lang="en-US" sz="1600" dirty="0"/>
          </a:p>
        </p:txBody>
      </p:sp>
      <p:pic>
        <p:nvPicPr>
          <p:cNvPr id="8" name="Image 0" descr="https://kimi-img.moonshot.cn/pub/slides/26-03-03-00:01:22-d6ir8kivb1u8l0n15mo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0869" y="2123946"/>
            <a:ext cx="6141973" cy="3677828"/>
          </a:xfrm>
          <a:prstGeom prst="roundRect">
            <a:avLst>
              <a:gd name="adj" fmla="val 0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7379792" y="1494118"/>
            <a:ext cx="4440977" cy="2289448"/>
          </a:xfrm>
          <a:custGeom>
            <a:avLst/>
            <a:gdLst/>
            <a:ahLst/>
            <a:cxnLst/>
            <a:rect l="l" t="t" r="r" b="b"/>
            <a:pathLst>
              <a:path w="4440977" h="2289448">
                <a:moveTo>
                  <a:pt x="110328" y="0"/>
                </a:moveTo>
                <a:lnTo>
                  <a:pt x="4330649" y="0"/>
                </a:lnTo>
                <a:cubicBezTo>
                  <a:pt x="4391582" y="0"/>
                  <a:pt x="4440977" y="49396"/>
                  <a:pt x="4440977" y="110328"/>
                </a:cubicBezTo>
                <a:lnTo>
                  <a:pt x="4440977" y="2179119"/>
                </a:lnTo>
                <a:cubicBezTo>
                  <a:pt x="4440977" y="2240052"/>
                  <a:pt x="4391582" y="2289448"/>
                  <a:pt x="4330649" y="2289448"/>
                </a:cubicBezTo>
                <a:lnTo>
                  <a:pt x="110328" y="2289448"/>
                </a:lnTo>
                <a:cubicBezTo>
                  <a:pt x="49437" y="2289448"/>
                  <a:pt x="0" y="2240011"/>
                  <a:pt x="0" y="2179119"/>
                </a:cubicBezTo>
                <a:lnTo>
                  <a:pt x="0" y="110328"/>
                </a:lnTo>
                <a:cubicBezTo>
                  <a:pt x="0" y="49396"/>
                  <a:pt x="49396" y="0"/>
                  <a:pt x="110328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95864" y="1719385"/>
            <a:ext cx="220670" cy="220670"/>
          </a:xfrm>
          <a:custGeom>
            <a:avLst/>
            <a:gdLst/>
            <a:ahLst/>
            <a:cxnLst/>
            <a:rect l="l" t="t" r="r" b="b"/>
            <a:pathLst>
              <a:path w="220670" h="220670">
                <a:moveTo>
                  <a:pt x="62193" y="0"/>
                </a:moveTo>
                <a:lnTo>
                  <a:pt x="158736" y="0"/>
                </a:lnTo>
                <a:cubicBezTo>
                  <a:pt x="170157" y="0"/>
                  <a:pt x="179467" y="9396"/>
                  <a:pt x="179036" y="20774"/>
                </a:cubicBezTo>
                <a:cubicBezTo>
                  <a:pt x="178949" y="23058"/>
                  <a:pt x="178863" y="25343"/>
                  <a:pt x="178734" y="27584"/>
                </a:cubicBezTo>
                <a:lnTo>
                  <a:pt x="200111" y="27584"/>
                </a:lnTo>
                <a:cubicBezTo>
                  <a:pt x="211360" y="27584"/>
                  <a:pt x="221273" y="36893"/>
                  <a:pt x="220411" y="49047"/>
                </a:cubicBezTo>
                <a:cubicBezTo>
                  <a:pt x="217179" y="93742"/>
                  <a:pt x="194336" y="118308"/>
                  <a:pt x="169554" y="131152"/>
                </a:cubicBezTo>
                <a:cubicBezTo>
                  <a:pt x="162744" y="134686"/>
                  <a:pt x="155805" y="137315"/>
                  <a:pt x="149211" y="139255"/>
                </a:cubicBezTo>
                <a:cubicBezTo>
                  <a:pt x="140505" y="151581"/>
                  <a:pt x="131454" y="158089"/>
                  <a:pt x="124256" y="161580"/>
                </a:cubicBezTo>
                <a:lnTo>
                  <a:pt x="124256" y="193086"/>
                </a:lnTo>
                <a:lnTo>
                  <a:pt x="151840" y="193086"/>
                </a:lnTo>
                <a:cubicBezTo>
                  <a:pt x="159468" y="193086"/>
                  <a:pt x="165632" y="199249"/>
                  <a:pt x="165632" y="206878"/>
                </a:cubicBezTo>
                <a:cubicBezTo>
                  <a:pt x="165632" y="214506"/>
                  <a:pt x="159468" y="220670"/>
                  <a:pt x="151840" y="220670"/>
                </a:cubicBezTo>
                <a:lnTo>
                  <a:pt x="69089" y="220670"/>
                </a:lnTo>
                <a:cubicBezTo>
                  <a:pt x="61460" y="220670"/>
                  <a:pt x="55297" y="214506"/>
                  <a:pt x="55297" y="206878"/>
                </a:cubicBezTo>
                <a:cubicBezTo>
                  <a:pt x="55297" y="199249"/>
                  <a:pt x="61460" y="193086"/>
                  <a:pt x="69089" y="193086"/>
                </a:cubicBezTo>
                <a:lnTo>
                  <a:pt x="96672" y="193086"/>
                </a:lnTo>
                <a:lnTo>
                  <a:pt x="96672" y="161580"/>
                </a:lnTo>
                <a:cubicBezTo>
                  <a:pt x="89776" y="158262"/>
                  <a:pt x="81200" y="152098"/>
                  <a:pt x="72838" y="140763"/>
                </a:cubicBezTo>
                <a:cubicBezTo>
                  <a:pt x="64908" y="138694"/>
                  <a:pt x="56288" y="135548"/>
                  <a:pt x="47884" y="130807"/>
                </a:cubicBezTo>
                <a:cubicBezTo>
                  <a:pt x="24567" y="117748"/>
                  <a:pt x="3534" y="93138"/>
                  <a:pt x="517" y="48961"/>
                </a:cubicBezTo>
                <a:cubicBezTo>
                  <a:pt x="-302" y="36850"/>
                  <a:pt x="9568" y="27541"/>
                  <a:pt x="20817" y="27541"/>
                </a:cubicBezTo>
                <a:lnTo>
                  <a:pt x="42194" y="27541"/>
                </a:lnTo>
                <a:cubicBezTo>
                  <a:pt x="42065" y="25299"/>
                  <a:pt x="41979" y="23058"/>
                  <a:pt x="41893" y="20731"/>
                </a:cubicBezTo>
                <a:cubicBezTo>
                  <a:pt x="41462" y="9310"/>
                  <a:pt x="50771" y="-43"/>
                  <a:pt x="62193" y="-43"/>
                </a:cubicBezTo>
                <a:close/>
                <a:moveTo>
                  <a:pt x="43746" y="48271"/>
                </a:moveTo>
                <a:lnTo>
                  <a:pt x="21162" y="48271"/>
                </a:lnTo>
                <a:cubicBezTo>
                  <a:pt x="23834" y="84777"/>
                  <a:pt x="40600" y="103051"/>
                  <a:pt x="57883" y="112748"/>
                </a:cubicBezTo>
                <a:cubicBezTo>
                  <a:pt x="51676" y="96672"/>
                  <a:pt x="46548" y="75683"/>
                  <a:pt x="43746" y="48271"/>
                </a:cubicBezTo>
                <a:close/>
                <a:moveTo>
                  <a:pt x="163778" y="110680"/>
                </a:moveTo>
                <a:cubicBezTo>
                  <a:pt x="181234" y="100422"/>
                  <a:pt x="197008" y="82191"/>
                  <a:pt x="199680" y="48271"/>
                </a:cubicBezTo>
                <a:lnTo>
                  <a:pt x="177139" y="48271"/>
                </a:lnTo>
                <a:cubicBezTo>
                  <a:pt x="174467" y="74519"/>
                  <a:pt x="169640" y="94905"/>
                  <a:pt x="163778" y="11068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1" name="Text 8"/>
          <p:cNvSpPr/>
          <p:nvPr/>
        </p:nvSpPr>
        <p:spPr>
          <a:xfrm>
            <a:off x="7954452" y="1682606"/>
            <a:ext cx="1581466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8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Performer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568281" y="2123946"/>
            <a:ext cx="4064000" cy="882679"/>
          </a:xfrm>
          <a:custGeom>
            <a:avLst/>
            <a:gdLst/>
            <a:ahLst/>
            <a:cxnLst/>
            <a:rect l="l" t="t" r="r" b="b"/>
            <a:pathLst>
              <a:path w="4064000" h="882679">
                <a:moveTo>
                  <a:pt x="73554" y="0"/>
                </a:moveTo>
                <a:lnTo>
                  <a:pt x="3990446" y="0"/>
                </a:lnTo>
                <a:cubicBezTo>
                  <a:pt x="4031069" y="0"/>
                  <a:pt x="4064000" y="32931"/>
                  <a:pt x="4064000" y="73554"/>
                </a:cubicBezTo>
                <a:lnTo>
                  <a:pt x="4064000" y="809125"/>
                </a:lnTo>
                <a:cubicBezTo>
                  <a:pt x="4064000" y="849748"/>
                  <a:pt x="4031069" y="882679"/>
                  <a:pt x="3990446" y="882679"/>
                </a:cubicBezTo>
                <a:lnTo>
                  <a:pt x="73554" y="882679"/>
                </a:lnTo>
                <a:cubicBezTo>
                  <a:pt x="32931" y="882679"/>
                  <a:pt x="0" y="849748"/>
                  <a:pt x="0" y="809125"/>
                </a:cubicBezTo>
                <a:lnTo>
                  <a:pt x="0" y="73554"/>
                </a:lnTo>
                <a:cubicBezTo>
                  <a:pt x="0" y="32958"/>
                  <a:pt x="32958" y="0"/>
                  <a:pt x="73554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715394" y="2271059"/>
            <a:ext cx="3907692" cy="331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72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15394" y="2638842"/>
            <a:ext cx="3843330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Slightly outperformed tree-based models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568281" y="3116959"/>
            <a:ext cx="4137557" cy="47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 </a:t>
            </a:r>
            <a:r>
              <a:rPr lang="en-US" sz="1158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leakage-free validation</a:t>
            </a:r>
            <a:r>
              <a:rPr lang="en-US" sz="1158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the linear model achieved the best ROC-AUC score, demonstrating robust generalization.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379792" y="3939873"/>
            <a:ext cx="4440977" cy="2914679"/>
          </a:xfrm>
          <a:custGeom>
            <a:avLst/>
            <a:gdLst/>
            <a:ahLst/>
            <a:cxnLst/>
            <a:rect l="l" t="t" r="r" b="b"/>
            <a:pathLst>
              <a:path w="4440977" h="2914679">
                <a:moveTo>
                  <a:pt x="110321" y="0"/>
                </a:moveTo>
                <a:lnTo>
                  <a:pt x="4330657" y="0"/>
                </a:lnTo>
                <a:cubicBezTo>
                  <a:pt x="4391585" y="0"/>
                  <a:pt x="4440977" y="49392"/>
                  <a:pt x="4440977" y="110321"/>
                </a:cubicBezTo>
                <a:lnTo>
                  <a:pt x="4440977" y="2804358"/>
                </a:lnTo>
                <a:cubicBezTo>
                  <a:pt x="4440977" y="2865287"/>
                  <a:pt x="4391585" y="2914679"/>
                  <a:pt x="4330657" y="2914679"/>
                </a:cubicBezTo>
                <a:lnTo>
                  <a:pt x="110321" y="2914679"/>
                </a:lnTo>
                <a:cubicBezTo>
                  <a:pt x="49392" y="2914679"/>
                  <a:pt x="0" y="2865287"/>
                  <a:pt x="0" y="2804358"/>
                </a:cubicBezTo>
                <a:lnTo>
                  <a:pt x="0" y="110321"/>
                </a:lnTo>
                <a:cubicBezTo>
                  <a:pt x="0" y="49392"/>
                  <a:pt x="49392" y="0"/>
                  <a:pt x="110321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595864" y="4146751"/>
            <a:ext cx="220670" cy="220670"/>
          </a:xfrm>
          <a:custGeom>
            <a:avLst/>
            <a:gdLst/>
            <a:ahLst/>
            <a:cxnLst/>
            <a:rect l="l" t="t" r="r" b="b"/>
            <a:pathLst>
              <a:path w="220670" h="220670">
                <a:moveTo>
                  <a:pt x="13792" y="13792"/>
                </a:moveTo>
                <a:cubicBezTo>
                  <a:pt x="21420" y="13792"/>
                  <a:pt x="27584" y="19955"/>
                  <a:pt x="27584" y="27584"/>
                </a:cubicBezTo>
                <a:lnTo>
                  <a:pt x="27584" y="172398"/>
                </a:lnTo>
                <a:cubicBezTo>
                  <a:pt x="27584" y="176191"/>
                  <a:pt x="30687" y="179294"/>
                  <a:pt x="34480" y="179294"/>
                </a:cubicBezTo>
                <a:lnTo>
                  <a:pt x="206878" y="179294"/>
                </a:lnTo>
                <a:cubicBezTo>
                  <a:pt x="214506" y="179294"/>
                  <a:pt x="220670" y="185457"/>
                  <a:pt x="220670" y="193086"/>
                </a:cubicBezTo>
                <a:cubicBezTo>
                  <a:pt x="220670" y="200715"/>
                  <a:pt x="214506" y="206878"/>
                  <a:pt x="206878" y="206878"/>
                </a:cubicBezTo>
                <a:lnTo>
                  <a:pt x="34480" y="206878"/>
                </a:lnTo>
                <a:cubicBezTo>
                  <a:pt x="15430" y="206878"/>
                  <a:pt x="0" y="191448"/>
                  <a:pt x="0" y="172398"/>
                </a:cubicBezTo>
                <a:lnTo>
                  <a:pt x="0" y="27584"/>
                </a:lnTo>
                <a:cubicBezTo>
                  <a:pt x="0" y="19955"/>
                  <a:pt x="6163" y="13792"/>
                  <a:pt x="13792" y="13792"/>
                </a:cubicBezTo>
                <a:close/>
                <a:moveTo>
                  <a:pt x="55167" y="41376"/>
                </a:moveTo>
                <a:cubicBezTo>
                  <a:pt x="55167" y="33747"/>
                  <a:pt x="61331" y="27584"/>
                  <a:pt x="68959" y="27584"/>
                </a:cubicBezTo>
                <a:lnTo>
                  <a:pt x="151710" y="27584"/>
                </a:lnTo>
                <a:cubicBezTo>
                  <a:pt x="159339" y="27584"/>
                  <a:pt x="165502" y="33747"/>
                  <a:pt x="165502" y="41376"/>
                </a:cubicBezTo>
                <a:cubicBezTo>
                  <a:pt x="165502" y="49004"/>
                  <a:pt x="159339" y="55167"/>
                  <a:pt x="151710" y="55167"/>
                </a:cubicBezTo>
                <a:lnTo>
                  <a:pt x="68959" y="55167"/>
                </a:lnTo>
                <a:cubicBezTo>
                  <a:pt x="61331" y="55167"/>
                  <a:pt x="55167" y="49004"/>
                  <a:pt x="55167" y="41376"/>
                </a:cubicBezTo>
                <a:close/>
                <a:moveTo>
                  <a:pt x="68959" y="75855"/>
                </a:moveTo>
                <a:lnTo>
                  <a:pt x="124127" y="75855"/>
                </a:lnTo>
                <a:cubicBezTo>
                  <a:pt x="131755" y="75855"/>
                  <a:pt x="137919" y="82018"/>
                  <a:pt x="137919" y="89647"/>
                </a:cubicBezTo>
                <a:cubicBezTo>
                  <a:pt x="137919" y="97276"/>
                  <a:pt x="131755" y="103439"/>
                  <a:pt x="124127" y="103439"/>
                </a:cubicBezTo>
                <a:lnTo>
                  <a:pt x="68959" y="103439"/>
                </a:lnTo>
                <a:cubicBezTo>
                  <a:pt x="61331" y="103439"/>
                  <a:pt x="55167" y="97276"/>
                  <a:pt x="55167" y="89647"/>
                </a:cubicBezTo>
                <a:cubicBezTo>
                  <a:pt x="55167" y="82018"/>
                  <a:pt x="61331" y="75855"/>
                  <a:pt x="68959" y="75855"/>
                </a:cubicBezTo>
                <a:close/>
                <a:moveTo>
                  <a:pt x="68959" y="124127"/>
                </a:moveTo>
                <a:lnTo>
                  <a:pt x="179294" y="124127"/>
                </a:lnTo>
                <a:cubicBezTo>
                  <a:pt x="186923" y="124127"/>
                  <a:pt x="193086" y="130290"/>
                  <a:pt x="193086" y="137919"/>
                </a:cubicBezTo>
                <a:cubicBezTo>
                  <a:pt x="193086" y="145547"/>
                  <a:pt x="186923" y="151710"/>
                  <a:pt x="179294" y="151710"/>
                </a:cubicBezTo>
                <a:lnTo>
                  <a:pt x="68959" y="151710"/>
                </a:lnTo>
                <a:cubicBezTo>
                  <a:pt x="61331" y="151710"/>
                  <a:pt x="55167" y="145547"/>
                  <a:pt x="55167" y="137919"/>
                </a:cubicBezTo>
                <a:cubicBezTo>
                  <a:pt x="55167" y="130290"/>
                  <a:pt x="61331" y="124127"/>
                  <a:pt x="68959" y="12412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8" name="Text 15"/>
          <p:cNvSpPr/>
          <p:nvPr/>
        </p:nvSpPr>
        <p:spPr>
          <a:xfrm>
            <a:off x="7954452" y="4128362"/>
            <a:ext cx="1884887" cy="25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8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Metrics Explained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568281" y="4532923"/>
            <a:ext cx="4064000" cy="662009"/>
          </a:xfrm>
          <a:custGeom>
            <a:avLst/>
            <a:gdLst/>
            <a:ahLst/>
            <a:cxnLst/>
            <a:rect l="l" t="t" r="r" b="b"/>
            <a:pathLst>
              <a:path w="4064000" h="662009">
                <a:moveTo>
                  <a:pt x="73556" y="0"/>
                </a:moveTo>
                <a:lnTo>
                  <a:pt x="3990444" y="0"/>
                </a:lnTo>
                <a:cubicBezTo>
                  <a:pt x="4031068" y="0"/>
                  <a:pt x="4064000" y="32932"/>
                  <a:pt x="4064000" y="73556"/>
                </a:cubicBezTo>
                <a:lnTo>
                  <a:pt x="4064000" y="588453"/>
                </a:lnTo>
                <a:cubicBezTo>
                  <a:pt x="4064000" y="629077"/>
                  <a:pt x="4031068" y="662009"/>
                  <a:pt x="3990444" y="662009"/>
                </a:cubicBezTo>
                <a:lnTo>
                  <a:pt x="73556" y="662009"/>
                </a:lnTo>
                <a:cubicBezTo>
                  <a:pt x="32959" y="662009"/>
                  <a:pt x="0" y="629050"/>
                  <a:pt x="0" y="588453"/>
                </a:cubicBezTo>
                <a:lnTo>
                  <a:pt x="0" y="73556"/>
                </a:lnTo>
                <a:cubicBezTo>
                  <a:pt x="0" y="32959"/>
                  <a:pt x="32959" y="0"/>
                  <a:pt x="73556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7678615" y="4716814"/>
            <a:ext cx="73557" cy="73557"/>
          </a:xfrm>
          <a:custGeom>
            <a:avLst/>
            <a:gdLst/>
            <a:ahLst/>
            <a:cxnLst/>
            <a:rect l="l" t="t" r="r" b="b"/>
            <a:pathLst>
              <a:path w="73557" h="73557">
                <a:moveTo>
                  <a:pt x="36778" y="0"/>
                </a:moveTo>
                <a:lnTo>
                  <a:pt x="36778" y="0"/>
                </a:lnTo>
                <a:cubicBezTo>
                  <a:pt x="57077" y="0"/>
                  <a:pt x="73557" y="16480"/>
                  <a:pt x="73557" y="36778"/>
                </a:cubicBezTo>
                <a:lnTo>
                  <a:pt x="73557" y="36778"/>
                </a:lnTo>
                <a:cubicBezTo>
                  <a:pt x="73557" y="57077"/>
                  <a:pt x="57077" y="73557"/>
                  <a:pt x="36778" y="73557"/>
                </a:cubicBezTo>
                <a:lnTo>
                  <a:pt x="36778" y="73557"/>
                </a:lnTo>
                <a:cubicBezTo>
                  <a:pt x="16480" y="73557"/>
                  <a:pt x="0" y="57077"/>
                  <a:pt x="0" y="36778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1" name="Text 18"/>
          <p:cNvSpPr/>
          <p:nvPr/>
        </p:nvSpPr>
        <p:spPr>
          <a:xfrm>
            <a:off x="7825729" y="4643258"/>
            <a:ext cx="726371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ROC-AUC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678615" y="4900706"/>
            <a:ext cx="3907692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Ability to distinguish churners from non-churners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568281" y="5268489"/>
            <a:ext cx="4064000" cy="662009"/>
          </a:xfrm>
          <a:custGeom>
            <a:avLst/>
            <a:gdLst/>
            <a:ahLst/>
            <a:cxnLst/>
            <a:rect l="l" t="t" r="r" b="b"/>
            <a:pathLst>
              <a:path w="4064000" h="662009">
                <a:moveTo>
                  <a:pt x="73556" y="0"/>
                </a:moveTo>
                <a:lnTo>
                  <a:pt x="3990444" y="0"/>
                </a:lnTo>
                <a:cubicBezTo>
                  <a:pt x="4031068" y="0"/>
                  <a:pt x="4064000" y="32932"/>
                  <a:pt x="4064000" y="73556"/>
                </a:cubicBezTo>
                <a:lnTo>
                  <a:pt x="4064000" y="588453"/>
                </a:lnTo>
                <a:cubicBezTo>
                  <a:pt x="4064000" y="629077"/>
                  <a:pt x="4031068" y="662009"/>
                  <a:pt x="3990444" y="662009"/>
                </a:cubicBezTo>
                <a:lnTo>
                  <a:pt x="73556" y="662009"/>
                </a:lnTo>
                <a:cubicBezTo>
                  <a:pt x="32959" y="662009"/>
                  <a:pt x="0" y="629050"/>
                  <a:pt x="0" y="588453"/>
                </a:cubicBezTo>
                <a:lnTo>
                  <a:pt x="0" y="73556"/>
                </a:lnTo>
                <a:cubicBezTo>
                  <a:pt x="0" y="32959"/>
                  <a:pt x="32959" y="0"/>
                  <a:pt x="73556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678615" y="5452380"/>
            <a:ext cx="73557" cy="73557"/>
          </a:xfrm>
          <a:custGeom>
            <a:avLst/>
            <a:gdLst/>
            <a:ahLst/>
            <a:cxnLst/>
            <a:rect l="l" t="t" r="r" b="b"/>
            <a:pathLst>
              <a:path w="73557" h="73557">
                <a:moveTo>
                  <a:pt x="36778" y="0"/>
                </a:moveTo>
                <a:lnTo>
                  <a:pt x="36778" y="0"/>
                </a:lnTo>
                <a:cubicBezTo>
                  <a:pt x="57077" y="0"/>
                  <a:pt x="73557" y="16480"/>
                  <a:pt x="73557" y="36778"/>
                </a:cubicBezTo>
                <a:lnTo>
                  <a:pt x="73557" y="36778"/>
                </a:lnTo>
                <a:cubicBezTo>
                  <a:pt x="73557" y="57077"/>
                  <a:pt x="57077" y="73557"/>
                  <a:pt x="36778" y="73557"/>
                </a:cubicBezTo>
                <a:lnTo>
                  <a:pt x="36778" y="73557"/>
                </a:lnTo>
                <a:cubicBezTo>
                  <a:pt x="16480" y="73557"/>
                  <a:pt x="0" y="57077"/>
                  <a:pt x="0" y="36778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5" name="Text 22"/>
          <p:cNvSpPr/>
          <p:nvPr/>
        </p:nvSpPr>
        <p:spPr>
          <a:xfrm>
            <a:off x="7825729" y="5378824"/>
            <a:ext cx="588452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F1 Score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678615" y="5636271"/>
            <a:ext cx="3907692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Balance between precision and recall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568281" y="6004054"/>
            <a:ext cx="4064000" cy="662009"/>
          </a:xfrm>
          <a:custGeom>
            <a:avLst/>
            <a:gdLst/>
            <a:ahLst/>
            <a:cxnLst/>
            <a:rect l="l" t="t" r="r" b="b"/>
            <a:pathLst>
              <a:path w="4064000" h="662009">
                <a:moveTo>
                  <a:pt x="73556" y="0"/>
                </a:moveTo>
                <a:lnTo>
                  <a:pt x="3990444" y="0"/>
                </a:lnTo>
                <a:cubicBezTo>
                  <a:pt x="4031068" y="0"/>
                  <a:pt x="4064000" y="32932"/>
                  <a:pt x="4064000" y="73556"/>
                </a:cubicBezTo>
                <a:lnTo>
                  <a:pt x="4064000" y="588453"/>
                </a:lnTo>
                <a:cubicBezTo>
                  <a:pt x="4064000" y="629077"/>
                  <a:pt x="4031068" y="662009"/>
                  <a:pt x="3990444" y="662009"/>
                </a:cubicBezTo>
                <a:lnTo>
                  <a:pt x="73556" y="662009"/>
                </a:lnTo>
                <a:cubicBezTo>
                  <a:pt x="32959" y="662009"/>
                  <a:pt x="0" y="629050"/>
                  <a:pt x="0" y="588453"/>
                </a:cubicBezTo>
                <a:lnTo>
                  <a:pt x="0" y="73556"/>
                </a:lnTo>
                <a:cubicBezTo>
                  <a:pt x="0" y="32959"/>
                  <a:pt x="32959" y="0"/>
                  <a:pt x="73556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7678615" y="6187946"/>
            <a:ext cx="73557" cy="73557"/>
          </a:xfrm>
          <a:custGeom>
            <a:avLst/>
            <a:gdLst/>
            <a:ahLst/>
            <a:cxnLst/>
            <a:rect l="l" t="t" r="r" b="b"/>
            <a:pathLst>
              <a:path w="73557" h="73557">
                <a:moveTo>
                  <a:pt x="36778" y="0"/>
                </a:moveTo>
                <a:lnTo>
                  <a:pt x="36778" y="0"/>
                </a:lnTo>
                <a:cubicBezTo>
                  <a:pt x="57077" y="0"/>
                  <a:pt x="73557" y="16480"/>
                  <a:pt x="73557" y="36778"/>
                </a:cubicBezTo>
                <a:lnTo>
                  <a:pt x="73557" y="36778"/>
                </a:lnTo>
                <a:cubicBezTo>
                  <a:pt x="73557" y="57077"/>
                  <a:pt x="57077" y="73557"/>
                  <a:pt x="36778" y="73557"/>
                </a:cubicBezTo>
                <a:lnTo>
                  <a:pt x="36778" y="73557"/>
                </a:lnTo>
                <a:cubicBezTo>
                  <a:pt x="16480" y="73557"/>
                  <a:pt x="0" y="57077"/>
                  <a:pt x="0" y="36778"/>
                </a:cubicBezTo>
                <a:lnTo>
                  <a:pt x="0" y="36778"/>
                </a:lnTo>
                <a:cubicBezTo>
                  <a:pt x="0" y="16480"/>
                  <a:pt x="16480" y="0"/>
                  <a:pt x="36778" y="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9" name="Text 26"/>
          <p:cNvSpPr/>
          <p:nvPr/>
        </p:nvSpPr>
        <p:spPr>
          <a:xfrm>
            <a:off x="7825729" y="6114389"/>
            <a:ext cx="1241267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Precision@Top15%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678615" y="6371837"/>
            <a:ext cx="3907692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 of high-risk customer identification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5763" y="385763"/>
            <a:ext cx="2095500" cy="314325"/>
          </a:xfrm>
          <a:custGeom>
            <a:avLst/>
            <a:gdLst/>
            <a:ahLst/>
            <a:cxnLst/>
            <a:rect l="l" t="t" r="r" b="b"/>
            <a:pathLst>
              <a:path w="2095500" h="314325">
                <a:moveTo>
                  <a:pt x="76199" y="0"/>
                </a:moveTo>
                <a:lnTo>
                  <a:pt x="2019301" y="0"/>
                </a:lnTo>
                <a:cubicBezTo>
                  <a:pt x="2061385" y="0"/>
                  <a:pt x="2095500" y="34115"/>
                  <a:pt x="2095500" y="76199"/>
                </a:cubicBezTo>
                <a:lnTo>
                  <a:pt x="2095500" y="238126"/>
                </a:lnTo>
                <a:cubicBezTo>
                  <a:pt x="2095500" y="280210"/>
                  <a:pt x="2061385" y="314325"/>
                  <a:pt x="2019301" y="314325"/>
                </a:cubicBezTo>
                <a:lnTo>
                  <a:pt x="76199" y="314325"/>
                </a:lnTo>
                <a:cubicBezTo>
                  <a:pt x="34115" y="314325"/>
                  <a:pt x="0" y="280210"/>
                  <a:pt x="0" y="238126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2925" y="457200"/>
            <a:ext cx="18578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EXPLAINABILITY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81915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 Analysis: Key Churn Drivers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144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85763" y="1547813"/>
            <a:ext cx="5591175" cy="1943100"/>
          </a:xfrm>
          <a:custGeom>
            <a:avLst/>
            <a:gdLst/>
            <a:ahLst/>
            <a:cxnLst/>
            <a:rect l="l" t="t" r="r" b="b"/>
            <a:pathLst>
              <a:path w="5591175" h="1943100">
                <a:moveTo>
                  <a:pt x="114293" y="0"/>
                </a:moveTo>
                <a:lnTo>
                  <a:pt x="5476882" y="0"/>
                </a:lnTo>
                <a:cubicBezTo>
                  <a:pt x="5539962" y="0"/>
                  <a:pt x="5591175" y="51213"/>
                  <a:pt x="5591175" y="114293"/>
                </a:cubicBezTo>
                <a:lnTo>
                  <a:pt x="5591175" y="1828807"/>
                </a:lnTo>
                <a:cubicBezTo>
                  <a:pt x="5591175" y="1891887"/>
                  <a:pt x="5539962" y="1943100"/>
                  <a:pt x="5476882" y="1943100"/>
                </a:cubicBezTo>
                <a:lnTo>
                  <a:pt x="114293" y="1943100"/>
                </a:lnTo>
                <a:cubicBezTo>
                  <a:pt x="51213" y="1943100"/>
                  <a:pt x="0" y="1891887"/>
                  <a:pt x="0" y="18288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1025" y="17430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2700000" scaled="1"/>
          </a:gradFill>
          <a:ln/>
        </p:spPr>
      </p:sp>
      <p:sp>
        <p:nvSpPr>
          <p:cNvPr id="8" name="Text 6"/>
          <p:cNvSpPr/>
          <p:nvPr/>
        </p:nvSpPr>
        <p:spPr>
          <a:xfrm>
            <a:off x="523875" y="174307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66825" y="1743075"/>
            <a:ext cx="4629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Recency is the Strongest Driver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66825" y="2162175"/>
            <a:ext cx="46005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Customers with </a:t>
            </a: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longer inactivity periods</a:t>
            </a: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have significantly higher churn probability.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66825" y="2833688"/>
            <a:ext cx="4514850" cy="457200"/>
          </a:xfrm>
          <a:custGeom>
            <a:avLst/>
            <a:gdLst/>
            <a:ahLst/>
            <a:cxnLst/>
            <a:rect l="l" t="t" r="r" b="b"/>
            <a:pathLst>
              <a:path w="4514850" h="457200">
                <a:moveTo>
                  <a:pt x="76202" y="0"/>
                </a:moveTo>
                <a:lnTo>
                  <a:pt x="4438648" y="0"/>
                </a:lnTo>
                <a:cubicBezTo>
                  <a:pt x="4480733" y="0"/>
                  <a:pt x="4514850" y="34117"/>
                  <a:pt x="4514850" y="76202"/>
                </a:cubicBezTo>
                <a:lnTo>
                  <a:pt x="4514850" y="380998"/>
                </a:lnTo>
                <a:cubicBezTo>
                  <a:pt x="4514850" y="423083"/>
                  <a:pt x="4480733" y="457200"/>
                  <a:pt x="44386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19225" y="2986088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13" name="Text 11"/>
          <p:cNvSpPr/>
          <p:nvPr/>
        </p:nvSpPr>
        <p:spPr>
          <a:xfrm>
            <a:off x="1647825" y="2947988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 Recency = Lower Churn Risk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3648075"/>
            <a:ext cx="5591175" cy="1943100"/>
          </a:xfrm>
          <a:custGeom>
            <a:avLst/>
            <a:gdLst/>
            <a:ahLst/>
            <a:cxnLst/>
            <a:rect l="l" t="t" r="r" b="b"/>
            <a:pathLst>
              <a:path w="5591175" h="1943100">
                <a:moveTo>
                  <a:pt x="114293" y="0"/>
                </a:moveTo>
                <a:lnTo>
                  <a:pt x="5476882" y="0"/>
                </a:lnTo>
                <a:cubicBezTo>
                  <a:pt x="5539962" y="0"/>
                  <a:pt x="5591175" y="51213"/>
                  <a:pt x="5591175" y="114293"/>
                </a:cubicBezTo>
                <a:lnTo>
                  <a:pt x="5591175" y="1828807"/>
                </a:lnTo>
                <a:cubicBezTo>
                  <a:pt x="5591175" y="1891887"/>
                  <a:pt x="5539962" y="1943100"/>
                  <a:pt x="5476882" y="1943100"/>
                </a:cubicBezTo>
                <a:lnTo>
                  <a:pt x="114293" y="1943100"/>
                </a:lnTo>
                <a:cubicBezTo>
                  <a:pt x="51213" y="1943100"/>
                  <a:pt x="0" y="1891887"/>
                  <a:pt x="0" y="18288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2">
                  <a:alpha val="20000"/>
                </a:srgbClr>
              </a:gs>
              <a:gs pos="100000">
                <a:srgbClr val="4A6C82">
                  <a:alpha val="5000"/>
                </a:srgbClr>
              </a:gs>
            </a:gsLst>
            <a:lin ang="2700000" scaled="1"/>
          </a:gra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1025" y="384333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2700000" scaled="1"/>
          </a:gradFill>
          <a:ln/>
        </p:spPr>
      </p:sp>
      <p:sp>
        <p:nvSpPr>
          <p:cNvPr id="16" name="Text 14"/>
          <p:cNvSpPr/>
          <p:nvPr/>
        </p:nvSpPr>
        <p:spPr>
          <a:xfrm>
            <a:off x="523875" y="3843338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66825" y="3843338"/>
            <a:ext cx="4629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Behavioral Instability Predicts Churn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66825" y="4262438"/>
            <a:ext cx="46005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volatility</a:t>
            </a: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purchase intervals (GapStd) increases churn risk significantly.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66825" y="4933950"/>
            <a:ext cx="4514850" cy="457200"/>
          </a:xfrm>
          <a:custGeom>
            <a:avLst/>
            <a:gdLst/>
            <a:ahLst/>
            <a:cxnLst/>
            <a:rect l="l" t="t" r="r" b="b"/>
            <a:pathLst>
              <a:path w="4514850" h="457200">
                <a:moveTo>
                  <a:pt x="76202" y="0"/>
                </a:moveTo>
                <a:lnTo>
                  <a:pt x="4438648" y="0"/>
                </a:lnTo>
                <a:cubicBezTo>
                  <a:pt x="4480733" y="0"/>
                  <a:pt x="4514850" y="34117"/>
                  <a:pt x="4514850" y="76202"/>
                </a:cubicBezTo>
                <a:lnTo>
                  <a:pt x="4514850" y="380998"/>
                </a:lnTo>
                <a:cubicBezTo>
                  <a:pt x="4514850" y="423083"/>
                  <a:pt x="4480733" y="457200"/>
                  <a:pt x="44386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400175" y="50863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1" name="Text 19"/>
          <p:cNvSpPr/>
          <p:nvPr/>
        </p:nvSpPr>
        <p:spPr>
          <a:xfrm>
            <a:off x="1647825" y="5048250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Irregular patterns = Warning signal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5063" y="1547813"/>
            <a:ext cx="5591175" cy="1943100"/>
          </a:xfrm>
          <a:custGeom>
            <a:avLst/>
            <a:gdLst/>
            <a:ahLst/>
            <a:cxnLst/>
            <a:rect l="l" t="t" r="r" b="b"/>
            <a:pathLst>
              <a:path w="5591175" h="1943100">
                <a:moveTo>
                  <a:pt x="114293" y="0"/>
                </a:moveTo>
                <a:lnTo>
                  <a:pt x="5476882" y="0"/>
                </a:lnTo>
                <a:cubicBezTo>
                  <a:pt x="5539962" y="0"/>
                  <a:pt x="5591175" y="51213"/>
                  <a:pt x="5591175" y="114293"/>
                </a:cubicBezTo>
                <a:lnTo>
                  <a:pt x="5591175" y="1828807"/>
                </a:lnTo>
                <a:cubicBezTo>
                  <a:pt x="5591175" y="1891887"/>
                  <a:pt x="5539962" y="1943100"/>
                  <a:pt x="5476882" y="1943100"/>
                </a:cubicBezTo>
                <a:lnTo>
                  <a:pt x="114293" y="1943100"/>
                </a:lnTo>
                <a:cubicBezTo>
                  <a:pt x="51213" y="1943100"/>
                  <a:pt x="0" y="1891887"/>
                  <a:pt x="0" y="1828807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flip="none" rotWithShape="1">
            <a:gsLst>
              <a:gs pos="0">
                <a:srgbClr val="4A6C82">
                  <a:alpha val="20000"/>
                </a:srgbClr>
              </a:gs>
              <a:gs pos="100000">
                <a:srgbClr val="4A6C82">
                  <a:alpha val="5000"/>
                </a:srgbClr>
              </a:gs>
            </a:gsLst>
            <a:lin ang="2700000" scaled="1"/>
          </a:gra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10325" y="17430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2700000" scaled="1"/>
          </a:gradFill>
          <a:ln/>
        </p:spPr>
      </p:sp>
      <p:sp>
        <p:nvSpPr>
          <p:cNvPr id="24" name="Text 22"/>
          <p:cNvSpPr/>
          <p:nvPr/>
        </p:nvSpPr>
        <p:spPr>
          <a:xfrm>
            <a:off x="6353175" y="174307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96125" y="1743075"/>
            <a:ext cx="4629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High-Value Customers Are More Stable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96125" y="2162175"/>
            <a:ext cx="46005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</a:t>
            </a:r>
            <a:r>
              <a:rPr lang="en-US" sz="135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monetary value</a:t>
            </a:r>
            <a:r>
              <a:rPr lang="en-US" sz="135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reduces churn probability. Loyal customers spend more.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096125" y="2833688"/>
            <a:ext cx="4514850" cy="457200"/>
          </a:xfrm>
          <a:custGeom>
            <a:avLst/>
            <a:gdLst/>
            <a:ahLst/>
            <a:cxnLst/>
            <a:rect l="l" t="t" r="r" b="b"/>
            <a:pathLst>
              <a:path w="4514850" h="457200">
                <a:moveTo>
                  <a:pt x="76202" y="0"/>
                </a:moveTo>
                <a:lnTo>
                  <a:pt x="4438648" y="0"/>
                </a:lnTo>
                <a:cubicBezTo>
                  <a:pt x="4480733" y="0"/>
                  <a:pt x="4514850" y="34117"/>
                  <a:pt x="4514850" y="76202"/>
                </a:cubicBezTo>
                <a:lnTo>
                  <a:pt x="4514850" y="380998"/>
                </a:lnTo>
                <a:cubicBezTo>
                  <a:pt x="4514850" y="423083"/>
                  <a:pt x="4480733" y="457200"/>
                  <a:pt x="443864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248525" y="2986088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27176" y="85725"/>
                </a:moveTo>
                <a:lnTo>
                  <a:pt x="16818" y="85725"/>
                </a:lnTo>
                <a:cubicBezTo>
                  <a:pt x="12859" y="85725"/>
                  <a:pt x="9674" y="82540"/>
                  <a:pt x="9674" y="78581"/>
                </a:cubicBezTo>
                <a:cubicBezTo>
                  <a:pt x="9674" y="74622"/>
                  <a:pt x="12859" y="71438"/>
                  <a:pt x="16818" y="71438"/>
                </a:cubicBezTo>
                <a:lnTo>
                  <a:pt x="23187" y="71438"/>
                </a:lnTo>
                <a:cubicBezTo>
                  <a:pt x="11103" y="43845"/>
                  <a:pt x="31284" y="12502"/>
                  <a:pt x="61793" y="12502"/>
                </a:cubicBezTo>
                <a:lnTo>
                  <a:pt x="64234" y="12502"/>
                </a:lnTo>
                <a:cubicBezTo>
                  <a:pt x="74235" y="12502"/>
                  <a:pt x="83939" y="15865"/>
                  <a:pt x="91767" y="22086"/>
                </a:cubicBezTo>
                <a:lnTo>
                  <a:pt x="96560" y="25866"/>
                </a:lnTo>
                <a:cubicBezTo>
                  <a:pt x="100697" y="29141"/>
                  <a:pt x="101382" y="35123"/>
                  <a:pt x="98108" y="39261"/>
                </a:cubicBezTo>
                <a:cubicBezTo>
                  <a:pt x="94833" y="43398"/>
                  <a:pt x="88850" y="44083"/>
                  <a:pt x="84713" y="40809"/>
                </a:cubicBezTo>
                <a:lnTo>
                  <a:pt x="79921" y="37028"/>
                </a:lnTo>
                <a:cubicBezTo>
                  <a:pt x="75456" y="33486"/>
                  <a:pt x="69919" y="31552"/>
                  <a:pt x="64204" y="31552"/>
                </a:cubicBezTo>
                <a:lnTo>
                  <a:pt x="61764" y="31552"/>
                </a:lnTo>
                <a:cubicBezTo>
                  <a:pt x="44708" y="31552"/>
                  <a:pt x="33576" y="49381"/>
                  <a:pt x="41017" y="64710"/>
                </a:cubicBezTo>
                <a:cubicBezTo>
                  <a:pt x="42089" y="66913"/>
                  <a:pt x="42982" y="69146"/>
                  <a:pt x="43726" y="71438"/>
                </a:cubicBezTo>
                <a:lnTo>
                  <a:pt x="88225" y="71438"/>
                </a:lnTo>
                <a:cubicBezTo>
                  <a:pt x="92184" y="71438"/>
                  <a:pt x="95369" y="74622"/>
                  <a:pt x="95369" y="78581"/>
                </a:cubicBezTo>
                <a:cubicBezTo>
                  <a:pt x="95369" y="82540"/>
                  <a:pt x="92184" y="85725"/>
                  <a:pt x="88225" y="85725"/>
                </a:cubicBezTo>
                <a:lnTo>
                  <a:pt x="46196" y="85725"/>
                </a:lnTo>
                <a:cubicBezTo>
                  <a:pt x="46494" y="96232"/>
                  <a:pt x="43607" y="106740"/>
                  <a:pt x="37594" y="115759"/>
                </a:cubicBezTo>
                <a:lnTo>
                  <a:pt x="32206" y="123825"/>
                </a:lnTo>
                <a:lnTo>
                  <a:pt x="95369" y="123825"/>
                </a:lnTo>
                <a:cubicBezTo>
                  <a:pt x="100638" y="123825"/>
                  <a:pt x="104894" y="128081"/>
                  <a:pt x="104894" y="133350"/>
                </a:cubicBezTo>
                <a:cubicBezTo>
                  <a:pt x="104894" y="138619"/>
                  <a:pt x="100638" y="142875"/>
                  <a:pt x="95369" y="142875"/>
                </a:cubicBezTo>
                <a:lnTo>
                  <a:pt x="14407" y="142875"/>
                </a:lnTo>
                <a:cubicBezTo>
                  <a:pt x="10894" y="142875"/>
                  <a:pt x="7680" y="140940"/>
                  <a:pt x="6013" y="137845"/>
                </a:cubicBezTo>
                <a:cubicBezTo>
                  <a:pt x="4346" y="134749"/>
                  <a:pt x="4524" y="130999"/>
                  <a:pt x="6489" y="128052"/>
                </a:cubicBezTo>
                <a:lnTo>
                  <a:pt x="21729" y="105192"/>
                </a:lnTo>
                <a:cubicBezTo>
                  <a:pt x="25628" y="99358"/>
                  <a:pt x="27444" y="92512"/>
                  <a:pt x="27146" y="85725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9" name="Text 27"/>
          <p:cNvSpPr/>
          <p:nvPr/>
        </p:nvSpPr>
        <p:spPr>
          <a:xfrm>
            <a:off x="7477125" y="2947988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 Monetary = More Stable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5063" y="3648075"/>
            <a:ext cx="5591175" cy="1743075"/>
          </a:xfrm>
          <a:custGeom>
            <a:avLst/>
            <a:gdLst/>
            <a:ahLst/>
            <a:cxnLst/>
            <a:rect l="l" t="t" r="r" b="b"/>
            <a:pathLst>
              <a:path w="5591175" h="1743075">
                <a:moveTo>
                  <a:pt x="114293" y="0"/>
                </a:moveTo>
                <a:lnTo>
                  <a:pt x="5476882" y="0"/>
                </a:lnTo>
                <a:cubicBezTo>
                  <a:pt x="5539962" y="0"/>
                  <a:pt x="5591175" y="51213"/>
                  <a:pt x="5591175" y="114293"/>
                </a:cubicBezTo>
                <a:lnTo>
                  <a:pt x="5591175" y="1628782"/>
                </a:lnTo>
                <a:cubicBezTo>
                  <a:pt x="5591175" y="1691862"/>
                  <a:pt x="5539962" y="1743075"/>
                  <a:pt x="5476882" y="1743075"/>
                </a:cubicBezTo>
                <a:lnTo>
                  <a:pt x="114293" y="1743075"/>
                </a:lnTo>
                <a:cubicBezTo>
                  <a:pt x="51213" y="1743075"/>
                  <a:pt x="0" y="1691862"/>
                  <a:pt x="0" y="162878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38900" y="38814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2" name="Text 30"/>
          <p:cNvSpPr/>
          <p:nvPr/>
        </p:nvSpPr>
        <p:spPr>
          <a:xfrm>
            <a:off x="6810375" y="3843338"/>
            <a:ext cx="17430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SHAP Approach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10325" y="43195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74619" y="4376738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5" name="Text 33"/>
          <p:cNvSpPr/>
          <p:nvPr/>
        </p:nvSpPr>
        <p:spPr>
          <a:xfrm>
            <a:off x="6753225" y="4300538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Quantify global feature importance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10325" y="46434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474619" y="4700588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8" name="Text 36"/>
          <p:cNvSpPr/>
          <p:nvPr/>
        </p:nvSpPr>
        <p:spPr>
          <a:xfrm>
            <a:off x="6753225" y="4624388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 directionality of impact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10325" y="49672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474619" y="5024438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1" name="Text 39"/>
          <p:cNvSpPr/>
          <p:nvPr/>
        </p:nvSpPr>
        <p:spPr>
          <a:xfrm>
            <a:off x="6753225" y="4948238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 behavioral assumptions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15063" y="5553075"/>
            <a:ext cx="5591175" cy="809625"/>
          </a:xfrm>
          <a:custGeom>
            <a:avLst/>
            <a:gdLst/>
            <a:ahLst/>
            <a:cxnLst/>
            <a:rect l="l" t="t" r="r" b="b"/>
            <a:pathLst>
              <a:path w="5591175" h="809625">
                <a:moveTo>
                  <a:pt x="114303" y="0"/>
                </a:moveTo>
                <a:lnTo>
                  <a:pt x="5476872" y="0"/>
                </a:lnTo>
                <a:cubicBezTo>
                  <a:pt x="5539958" y="0"/>
                  <a:pt x="5591175" y="51217"/>
                  <a:pt x="5591175" y="114303"/>
                </a:cubicBezTo>
                <a:lnTo>
                  <a:pt x="5591175" y="695322"/>
                </a:lnTo>
                <a:cubicBezTo>
                  <a:pt x="5591175" y="758408"/>
                  <a:pt x="5539958" y="809625"/>
                  <a:pt x="54768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4A6C82">
                  <a:alpha val="10000"/>
                </a:srgbClr>
              </a:gs>
            </a:gsLst>
            <a:lin ang="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86513" y="584358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44" name="Text 42"/>
          <p:cNvSpPr/>
          <p:nvPr/>
        </p:nvSpPr>
        <p:spPr>
          <a:xfrm>
            <a:off x="6689973" y="5710238"/>
            <a:ext cx="50387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r>
              <a:rPr lang="en-US" sz="12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Recency, behavioral volatility, and monetary value are the top 3 predictors of customer churn.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1469" y="321469"/>
            <a:ext cx="1706563" cy="261937"/>
          </a:xfrm>
          <a:custGeom>
            <a:avLst/>
            <a:gdLst/>
            <a:ahLst/>
            <a:cxnLst/>
            <a:rect l="l" t="t" r="r" b="b"/>
            <a:pathLst>
              <a:path w="1706563" h="261937">
                <a:moveTo>
                  <a:pt x="63499" y="0"/>
                </a:moveTo>
                <a:lnTo>
                  <a:pt x="1643064" y="0"/>
                </a:lnTo>
                <a:cubicBezTo>
                  <a:pt x="1678133" y="0"/>
                  <a:pt x="1706563" y="28429"/>
                  <a:pt x="1706563" y="63499"/>
                </a:cubicBezTo>
                <a:lnTo>
                  <a:pt x="1706563" y="198439"/>
                </a:lnTo>
                <a:cubicBezTo>
                  <a:pt x="1706563" y="233508"/>
                  <a:pt x="1678133" y="261937"/>
                  <a:pt x="1643064" y="261937"/>
                </a:cubicBezTo>
                <a:lnTo>
                  <a:pt x="63499" y="261937"/>
                </a:lnTo>
                <a:cubicBezTo>
                  <a:pt x="28429" y="261937"/>
                  <a:pt x="0" y="233508"/>
                  <a:pt x="0" y="198439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2438" y="381000"/>
            <a:ext cx="15041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SIMULATION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68262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Revenue-at-Risk: Strategic Targeting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17500" y="1095375"/>
            <a:ext cx="1016000" cy="31750"/>
          </a:xfrm>
          <a:custGeom>
            <a:avLst/>
            <a:gdLst/>
            <a:ahLst/>
            <a:cxnLst/>
            <a:rect l="l" t="t" r="r" b="b"/>
            <a:pathLst>
              <a:path w="1016000" h="31750">
                <a:moveTo>
                  <a:pt x="0" y="0"/>
                </a:moveTo>
                <a:lnTo>
                  <a:pt x="1016000" y="0"/>
                </a:lnTo>
                <a:lnTo>
                  <a:pt x="1016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321469" y="1289844"/>
            <a:ext cx="5675313" cy="2690813"/>
          </a:xfrm>
          <a:custGeom>
            <a:avLst/>
            <a:gdLst/>
            <a:ahLst/>
            <a:cxnLst/>
            <a:rect l="l" t="t" r="r" b="b"/>
            <a:pathLst>
              <a:path w="5675313" h="2690813">
                <a:moveTo>
                  <a:pt x="95255" y="0"/>
                </a:moveTo>
                <a:lnTo>
                  <a:pt x="5580058" y="0"/>
                </a:lnTo>
                <a:cubicBezTo>
                  <a:pt x="5632665" y="0"/>
                  <a:pt x="5675313" y="42647"/>
                  <a:pt x="5675313" y="95255"/>
                </a:cubicBezTo>
                <a:lnTo>
                  <a:pt x="5675313" y="2595558"/>
                </a:lnTo>
                <a:cubicBezTo>
                  <a:pt x="5675313" y="2648165"/>
                  <a:pt x="5632665" y="2690813"/>
                  <a:pt x="5580058" y="2690813"/>
                </a:cubicBezTo>
                <a:lnTo>
                  <a:pt x="95255" y="2690813"/>
                </a:lnTo>
                <a:cubicBezTo>
                  <a:pt x="42647" y="2690813"/>
                  <a:pt x="0" y="2648165"/>
                  <a:pt x="0" y="2595558"/>
                </a:cubicBezTo>
                <a:lnTo>
                  <a:pt x="0" y="95255"/>
                </a:lnTo>
                <a:cubicBezTo>
                  <a:pt x="0" y="42682"/>
                  <a:pt x="42682" y="0"/>
                  <a:pt x="95255" y="0"/>
                </a:cubicBezTo>
                <a:close/>
              </a:path>
            </a:pathLst>
          </a:custGeom>
          <a:gradFill flip="none" rotWithShape="1">
            <a:gsLst>
              <a:gs pos="0">
                <a:srgbClr val="8D99AE">
                  <a:alpha val="20000"/>
                </a:srgbClr>
              </a:gs>
              <a:gs pos="100000">
                <a:srgbClr val="8D99AE">
                  <a:alpha val="5000"/>
                </a:srgbClr>
              </a:gs>
            </a:gsLst>
            <a:lin ang="2700000" scaled="1"/>
          </a:gra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187" y="145256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95313" y="156368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51780" y="51780"/>
                </a:moveTo>
                <a:cubicBezTo>
                  <a:pt x="54694" y="48865"/>
                  <a:pt x="59407" y="48865"/>
                  <a:pt x="62291" y="51780"/>
                </a:cubicBezTo>
                <a:lnTo>
                  <a:pt x="79344" y="68833"/>
                </a:lnTo>
                <a:lnTo>
                  <a:pt x="96397" y="51780"/>
                </a:lnTo>
                <a:cubicBezTo>
                  <a:pt x="99312" y="48865"/>
                  <a:pt x="104025" y="48865"/>
                  <a:pt x="106908" y="51780"/>
                </a:cubicBezTo>
                <a:cubicBezTo>
                  <a:pt x="109792" y="54694"/>
                  <a:pt x="109823" y="59407"/>
                  <a:pt x="106908" y="62291"/>
                </a:cubicBezTo>
                <a:lnTo>
                  <a:pt x="89855" y="79344"/>
                </a:lnTo>
                <a:lnTo>
                  <a:pt x="106908" y="96397"/>
                </a:lnTo>
                <a:cubicBezTo>
                  <a:pt x="109823" y="99312"/>
                  <a:pt x="109823" y="104025"/>
                  <a:pt x="106908" y="106908"/>
                </a:cubicBezTo>
                <a:cubicBezTo>
                  <a:pt x="103994" y="109792"/>
                  <a:pt x="99281" y="109823"/>
                  <a:pt x="96397" y="106908"/>
                </a:cubicBezTo>
                <a:lnTo>
                  <a:pt x="79344" y="89855"/>
                </a:lnTo>
                <a:lnTo>
                  <a:pt x="62291" y="106908"/>
                </a:lnTo>
                <a:cubicBezTo>
                  <a:pt x="59376" y="109823"/>
                  <a:pt x="54663" y="109823"/>
                  <a:pt x="51780" y="106908"/>
                </a:cubicBezTo>
                <a:cubicBezTo>
                  <a:pt x="48896" y="103994"/>
                  <a:pt x="48865" y="99281"/>
                  <a:pt x="51780" y="96397"/>
                </a:cubicBezTo>
                <a:lnTo>
                  <a:pt x="68833" y="79344"/>
                </a:lnTo>
                <a:lnTo>
                  <a:pt x="51780" y="62291"/>
                </a:lnTo>
                <a:cubicBezTo>
                  <a:pt x="48865" y="59376"/>
                  <a:pt x="48865" y="54663"/>
                  <a:pt x="51780" y="51780"/>
                </a:cubicBez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9" name="Text 7"/>
          <p:cNvSpPr/>
          <p:nvPr/>
        </p:nvSpPr>
        <p:spPr>
          <a:xfrm>
            <a:off x="960438" y="1516063"/>
            <a:ext cx="2317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Probability-Only Targeting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187" y="1960563"/>
            <a:ext cx="5349875" cy="635000"/>
          </a:xfrm>
          <a:custGeom>
            <a:avLst/>
            <a:gdLst/>
            <a:ahLst/>
            <a:cxnLst/>
            <a:rect l="l" t="t" r="r" b="b"/>
            <a:pathLst>
              <a:path w="5349875" h="635000">
                <a:moveTo>
                  <a:pt x="63500" y="0"/>
                </a:moveTo>
                <a:lnTo>
                  <a:pt x="5286375" y="0"/>
                </a:lnTo>
                <a:cubicBezTo>
                  <a:pt x="5321422" y="0"/>
                  <a:pt x="5349875" y="28453"/>
                  <a:pt x="5349875" y="63500"/>
                </a:cubicBezTo>
                <a:lnTo>
                  <a:pt x="5349875" y="571500"/>
                </a:lnTo>
                <a:cubicBezTo>
                  <a:pt x="5349875" y="606547"/>
                  <a:pt x="5321422" y="635000"/>
                  <a:pt x="528637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79438" y="2087563"/>
            <a:ext cx="107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Captured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91423" y="2055813"/>
            <a:ext cx="44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~2%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9438" y="2341563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total revenue-at-risk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187" y="2690813"/>
            <a:ext cx="5349875" cy="635000"/>
          </a:xfrm>
          <a:custGeom>
            <a:avLst/>
            <a:gdLst/>
            <a:ahLst/>
            <a:cxnLst/>
            <a:rect l="l" t="t" r="r" b="b"/>
            <a:pathLst>
              <a:path w="5349875" h="635000">
                <a:moveTo>
                  <a:pt x="63500" y="0"/>
                </a:moveTo>
                <a:lnTo>
                  <a:pt x="5286375" y="0"/>
                </a:lnTo>
                <a:cubicBezTo>
                  <a:pt x="5321422" y="0"/>
                  <a:pt x="5349875" y="28453"/>
                  <a:pt x="5349875" y="63500"/>
                </a:cubicBezTo>
                <a:lnTo>
                  <a:pt x="5349875" y="571500"/>
                </a:lnTo>
                <a:cubicBezTo>
                  <a:pt x="5349875" y="606547"/>
                  <a:pt x="5321422" y="635000"/>
                  <a:pt x="528637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79438" y="2817813"/>
            <a:ext cx="26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14144" y="2786063"/>
            <a:ext cx="817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646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Negative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9438" y="3071813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Targeting fails to capture value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8156" y="3425031"/>
            <a:ext cx="5341938" cy="388938"/>
          </a:xfrm>
          <a:custGeom>
            <a:avLst/>
            <a:gdLst/>
            <a:ahLst/>
            <a:cxnLst/>
            <a:rect l="l" t="t" r="r" b="b"/>
            <a:pathLst>
              <a:path w="5341938" h="388938">
                <a:moveTo>
                  <a:pt x="63502" y="0"/>
                </a:moveTo>
                <a:lnTo>
                  <a:pt x="5278436" y="0"/>
                </a:lnTo>
                <a:cubicBezTo>
                  <a:pt x="5313507" y="0"/>
                  <a:pt x="5341938" y="28431"/>
                  <a:pt x="5341938" y="63502"/>
                </a:cubicBezTo>
                <a:lnTo>
                  <a:pt x="5341938" y="325436"/>
                </a:lnTo>
                <a:cubicBezTo>
                  <a:pt x="5341938" y="360507"/>
                  <a:pt x="5313507" y="388938"/>
                  <a:pt x="5278436" y="388938"/>
                </a:cubicBezTo>
                <a:lnTo>
                  <a:pt x="63502" y="388938"/>
                </a:lnTo>
                <a:cubicBezTo>
                  <a:pt x="28431" y="388938"/>
                  <a:pt x="0" y="360507"/>
                  <a:pt x="0" y="325436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B2C36">
              <a:alpha val="10196"/>
            </a:srgbClr>
          </a:solidFill>
          <a:ln w="12700">
            <a:solidFill>
              <a:srgbClr val="FB2C36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250" y="3556000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FF6467"/>
          </a:solidFill>
          <a:ln/>
        </p:spPr>
      </p:sp>
      <p:sp>
        <p:nvSpPr>
          <p:cNvPr id="20" name="Text 18"/>
          <p:cNvSpPr/>
          <p:nvPr/>
        </p:nvSpPr>
        <p:spPr>
          <a:xfrm>
            <a:off x="785813" y="3524250"/>
            <a:ext cx="5008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Problem:</a:t>
            </a:r>
            <a:r>
              <a:rPr lang="en-US" sz="1000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 churn probability ≠ High revenue impact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1469" y="4115594"/>
            <a:ext cx="5675313" cy="3135313"/>
          </a:xfrm>
          <a:custGeom>
            <a:avLst/>
            <a:gdLst/>
            <a:ahLst/>
            <a:cxnLst/>
            <a:rect l="l" t="t" r="r" b="b"/>
            <a:pathLst>
              <a:path w="5675313" h="3135313">
                <a:moveTo>
                  <a:pt x="95251" y="0"/>
                </a:moveTo>
                <a:lnTo>
                  <a:pt x="5580062" y="0"/>
                </a:lnTo>
                <a:cubicBezTo>
                  <a:pt x="5632667" y="0"/>
                  <a:pt x="5675313" y="42645"/>
                  <a:pt x="5675313" y="95251"/>
                </a:cubicBezTo>
                <a:lnTo>
                  <a:pt x="5675313" y="3040062"/>
                </a:lnTo>
                <a:cubicBezTo>
                  <a:pt x="5675313" y="3092667"/>
                  <a:pt x="5632667" y="3135313"/>
                  <a:pt x="5580062" y="3135313"/>
                </a:cubicBezTo>
                <a:lnTo>
                  <a:pt x="95251" y="3135313"/>
                </a:lnTo>
                <a:cubicBezTo>
                  <a:pt x="42645" y="3135313"/>
                  <a:pt x="0" y="3092667"/>
                  <a:pt x="0" y="3040062"/>
                </a:cubicBezTo>
                <a:lnTo>
                  <a:pt x="0" y="95251"/>
                </a:lnTo>
                <a:cubicBezTo>
                  <a:pt x="0" y="42680"/>
                  <a:pt x="42680" y="0"/>
                  <a:pt x="95251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5E8B7E">
                  <a:alpha val="5000"/>
                </a:srgbClr>
              </a:gs>
            </a:gsLst>
            <a:lin ang="270000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187" y="42783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270000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595313" y="438943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158750"/>
                </a:moveTo>
                <a:cubicBezTo>
                  <a:pt x="123183" y="158750"/>
                  <a:pt x="158750" y="123183"/>
                  <a:pt x="158750" y="79375"/>
                </a:cubicBezTo>
                <a:cubicBezTo>
                  <a:pt x="158750" y="35567"/>
                  <a:pt x="123183" y="0"/>
                  <a:pt x="79375" y="0"/>
                </a:cubicBezTo>
                <a:cubicBezTo>
                  <a:pt x="35567" y="0"/>
                  <a:pt x="0" y="35567"/>
                  <a:pt x="0" y="79375"/>
                </a:cubicBezTo>
                <a:cubicBezTo>
                  <a:pt x="0" y="123183"/>
                  <a:pt x="35567" y="158750"/>
                  <a:pt x="79375" y="158750"/>
                </a:cubicBezTo>
                <a:close/>
                <a:moveTo>
                  <a:pt x="105544" y="65949"/>
                </a:moveTo>
                <a:lnTo>
                  <a:pt x="80739" y="105637"/>
                </a:lnTo>
                <a:cubicBezTo>
                  <a:pt x="79437" y="107714"/>
                  <a:pt x="77205" y="109017"/>
                  <a:pt x="74755" y="109141"/>
                </a:cubicBezTo>
                <a:cubicBezTo>
                  <a:pt x="72306" y="109265"/>
                  <a:pt x="69949" y="108148"/>
                  <a:pt x="68492" y="106164"/>
                </a:cubicBezTo>
                <a:lnTo>
                  <a:pt x="53609" y="86320"/>
                </a:lnTo>
                <a:cubicBezTo>
                  <a:pt x="51129" y="83034"/>
                  <a:pt x="51811" y="78383"/>
                  <a:pt x="55097" y="75902"/>
                </a:cubicBezTo>
                <a:cubicBezTo>
                  <a:pt x="58384" y="73422"/>
                  <a:pt x="63035" y="74104"/>
                  <a:pt x="65515" y="77391"/>
                </a:cubicBezTo>
                <a:lnTo>
                  <a:pt x="73887" y="88553"/>
                </a:lnTo>
                <a:lnTo>
                  <a:pt x="92925" y="58074"/>
                </a:lnTo>
                <a:cubicBezTo>
                  <a:pt x="95095" y="54601"/>
                  <a:pt x="99684" y="53516"/>
                  <a:pt x="103188" y="55718"/>
                </a:cubicBezTo>
                <a:cubicBezTo>
                  <a:pt x="106691" y="57919"/>
                  <a:pt x="107745" y="62477"/>
                  <a:pt x="105544" y="6598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60438" y="4341813"/>
            <a:ext cx="2579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Revenue-Weighted Targeting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8156" y="4790281"/>
            <a:ext cx="5341938" cy="833438"/>
          </a:xfrm>
          <a:custGeom>
            <a:avLst/>
            <a:gdLst/>
            <a:ahLst/>
            <a:cxnLst/>
            <a:rect l="l" t="t" r="r" b="b"/>
            <a:pathLst>
              <a:path w="5341938" h="833438">
                <a:moveTo>
                  <a:pt x="63500" y="0"/>
                </a:moveTo>
                <a:lnTo>
                  <a:pt x="5278438" y="0"/>
                </a:lnTo>
                <a:cubicBezTo>
                  <a:pt x="5313508" y="0"/>
                  <a:pt x="5341938" y="28430"/>
                  <a:pt x="5341938" y="63500"/>
                </a:cubicBezTo>
                <a:lnTo>
                  <a:pt x="5341938" y="769938"/>
                </a:lnTo>
                <a:cubicBezTo>
                  <a:pt x="5341938" y="805008"/>
                  <a:pt x="5313508" y="833438"/>
                  <a:pt x="5278438" y="833438"/>
                </a:cubicBezTo>
                <a:lnTo>
                  <a:pt x="63500" y="833438"/>
                </a:lnTo>
                <a:cubicBezTo>
                  <a:pt x="28430" y="833438"/>
                  <a:pt x="0" y="805008"/>
                  <a:pt x="0" y="769938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4A6C82">
                  <a:alpha val="10000"/>
                </a:srgbClr>
              </a:gs>
            </a:gsLst>
            <a:lin ang="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3406" y="4921250"/>
            <a:ext cx="5151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Score Formula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1500" y="5175250"/>
            <a:ext cx="5175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= P(Churn) × Monetary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4187" y="5722938"/>
            <a:ext cx="5349875" cy="635000"/>
          </a:xfrm>
          <a:custGeom>
            <a:avLst/>
            <a:gdLst/>
            <a:ahLst/>
            <a:cxnLst/>
            <a:rect l="l" t="t" r="r" b="b"/>
            <a:pathLst>
              <a:path w="5349875" h="635000">
                <a:moveTo>
                  <a:pt x="63500" y="0"/>
                </a:moveTo>
                <a:lnTo>
                  <a:pt x="5286375" y="0"/>
                </a:lnTo>
                <a:cubicBezTo>
                  <a:pt x="5321422" y="0"/>
                  <a:pt x="5349875" y="28453"/>
                  <a:pt x="5349875" y="63500"/>
                </a:cubicBezTo>
                <a:lnTo>
                  <a:pt x="5349875" y="571500"/>
                </a:lnTo>
                <a:cubicBezTo>
                  <a:pt x="5349875" y="606547"/>
                  <a:pt x="5321422" y="635000"/>
                  <a:pt x="528637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79438" y="5849938"/>
            <a:ext cx="1079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Captured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25777" y="5818188"/>
            <a:ext cx="404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41%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79438" y="610393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total revenue-at-risk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4187" y="6453188"/>
            <a:ext cx="5349875" cy="635000"/>
          </a:xfrm>
          <a:custGeom>
            <a:avLst/>
            <a:gdLst/>
            <a:ahLst/>
            <a:cxnLst/>
            <a:rect l="l" t="t" r="r" b="b"/>
            <a:pathLst>
              <a:path w="5349875" h="635000">
                <a:moveTo>
                  <a:pt x="63500" y="0"/>
                </a:moveTo>
                <a:lnTo>
                  <a:pt x="5286375" y="0"/>
                </a:lnTo>
                <a:cubicBezTo>
                  <a:pt x="5321422" y="0"/>
                  <a:pt x="5349875" y="28453"/>
                  <a:pt x="5349875" y="63500"/>
                </a:cubicBezTo>
                <a:lnTo>
                  <a:pt x="5349875" y="571500"/>
                </a:lnTo>
                <a:cubicBezTo>
                  <a:pt x="5349875" y="606547"/>
                  <a:pt x="5321422" y="635000"/>
                  <a:pt x="5286375" y="635000"/>
                </a:cubicBezTo>
                <a:lnTo>
                  <a:pt x="63500" y="635000"/>
                </a:lnTo>
                <a:cubicBezTo>
                  <a:pt x="28453" y="635000"/>
                  <a:pt x="0" y="606547"/>
                  <a:pt x="0" y="571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5E8B7E">
              <a:alpha val="1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579438" y="6580188"/>
            <a:ext cx="849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Simulated ROI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03453" y="6548438"/>
            <a:ext cx="428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7.6x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79438" y="683418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Dramatic improvement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95219" y="1289844"/>
            <a:ext cx="5675313" cy="5961063"/>
          </a:xfrm>
          <a:custGeom>
            <a:avLst/>
            <a:gdLst/>
            <a:ahLst/>
            <a:cxnLst/>
            <a:rect l="l" t="t" r="r" b="b"/>
            <a:pathLst>
              <a:path w="5675313" h="5961063">
                <a:moveTo>
                  <a:pt x="95232" y="0"/>
                </a:moveTo>
                <a:lnTo>
                  <a:pt x="5580081" y="0"/>
                </a:lnTo>
                <a:cubicBezTo>
                  <a:pt x="5632676" y="0"/>
                  <a:pt x="5675313" y="42637"/>
                  <a:pt x="5675313" y="95232"/>
                </a:cubicBezTo>
                <a:lnTo>
                  <a:pt x="5675313" y="5865831"/>
                </a:lnTo>
                <a:cubicBezTo>
                  <a:pt x="5675313" y="5918426"/>
                  <a:pt x="5632676" y="5961063"/>
                  <a:pt x="5580081" y="5961063"/>
                </a:cubicBezTo>
                <a:lnTo>
                  <a:pt x="95232" y="5961063"/>
                </a:lnTo>
                <a:cubicBezTo>
                  <a:pt x="42637" y="5961063"/>
                  <a:pt x="0" y="5918426"/>
                  <a:pt x="0" y="5865831"/>
                </a:cubicBezTo>
                <a:lnTo>
                  <a:pt x="0" y="95232"/>
                </a:lnTo>
                <a:cubicBezTo>
                  <a:pt x="0" y="42637"/>
                  <a:pt x="42637" y="0"/>
                  <a:pt x="95232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10313" y="1452563"/>
            <a:ext cx="5445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Targeting Strategy Comparison</a:t>
            </a:r>
            <a:endParaRPr lang="en-US" sz="1600" dirty="0"/>
          </a:p>
        </p:txBody>
      </p:sp>
      <p:pic>
        <p:nvPicPr>
          <p:cNvPr id="38" name="Image 0" descr="https://kimi-img.moonshot.cn/pub/slides/26-03-03-00:01:23-d6ir8ko52cetijeda54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57938" y="1833563"/>
            <a:ext cx="4333875" cy="38100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ernx.de/1bd700b4e77f0079ce9d8607a49e24256eedb1f4.webp"/>
          <p:cNvPicPr>
            <a:picLocks noChangeAspect="1"/>
          </p:cNvPicPr>
          <p:nvPr/>
        </p:nvPicPr>
        <p:blipFill>
          <a:blip r:embed="rId3">
            <a:alphaModFix amt="20000"/>
          </a:blip>
          <a:srcRect l="5566" r="5566"/>
          <a:stretch/>
        </p:blipFill>
        <p:spPr>
          <a:xfrm>
            <a:off x="0" y="0"/>
            <a:ext cx="12192000" cy="6859582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9582"/>
          </a:xfrm>
          <a:custGeom>
            <a:avLst/>
            <a:gdLst/>
            <a:ahLst/>
            <a:cxnLst/>
            <a:rect l="l" t="t" r="r" b="b"/>
            <a:pathLst>
              <a:path w="12192000" h="6859582">
                <a:moveTo>
                  <a:pt x="0" y="0"/>
                </a:moveTo>
                <a:lnTo>
                  <a:pt x="12192000" y="0"/>
                </a:lnTo>
                <a:lnTo>
                  <a:pt x="12192000" y="6859582"/>
                </a:lnTo>
                <a:lnTo>
                  <a:pt x="0" y="6859582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6C82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41713" y="341713"/>
            <a:ext cx="1603100" cy="379682"/>
          </a:xfrm>
          <a:custGeom>
            <a:avLst/>
            <a:gdLst/>
            <a:ahLst/>
            <a:cxnLst/>
            <a:rect l="l" t="t" r="r" b="b"/>
            <a:pathLst>
              <a:path w="1603100" h="379682">
                <a:moveTo>
                  <a:pt x="67500" y="0"/>
                </a:moveTo>
                <a:lnTo>
                  <a:pt x="1535601" y="0"/>
                </a:lnTo>
                <a:cubicBezTo>
                  <a:pt x="1572880" y="0"/>
                  <a:pt x="1603100" y="30221"/>
                  <a:pt x="1603100" y="67500"/>
                </a:cubicBezTo>
                <a:lnTo>
                  <a:pt x="1603100" y="312182"/>
                </a:lnTo>
                <a:cubicBezTo>
                  <a:pt x="1603100" y="349461"/>
                  <a:pt x="1572880" y="379682"/>
                  <a:pt x="1535601" y="379682"/>
                </a:cubicBezTo>
                <a:lnTo>
                  <a:pt x="67500" y="379682"/>
                </a:lnTo>
                <a:cubicBezTo>
                  <a:pt x="30246" y="379682"/>
                  <a:pt x="0" y="349436"/>
                  <a:pt x="0" y="312182"/>
                </a:cubicBezTo>
                <a:lnTo>
                  <a:pt x="0" y="67500"/>
                </a:lnTo>
                <a:cubicBezTo>
                  <a:pt x="0" y="30246"/>
                  <a:pt x="30246" y="0"/>
                  <a:pt x="67500" y="0"/>
                </a:cubicBezTo>
                <a:close/>
              </a:path>
            </a:pathLst>
          </a:custGeom>
          <a:solidFill>
            <a:srgbClr val="5E8B7E">
              <a:alpha val="20000"/>
            </a:srgbClr>
          </a:solidFill>
          <a:ln w="12700">
            <a:solidFill>
              <a:srgbClr val="5E8B7E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14680" y="447181"/>
            <a:ext cx="1329809" cy="168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kern="0" spc="60" dirty="0">
                <a:solidFill>
                  <a:srgbClr val="5E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IMPACT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37495" y="928111"/>
            <a:ext cx="11770131" cy="1265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986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3986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Strategic Value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7495" y="2396213"/>
            <a:ext cx="1349979" cy="33749"/>
          </a:xfrm>
          <a:custGeom>
            <a:avLst/>
            <a:gdLst/>
            <a:ahLst/>
            <a:cxnLst/>
            <a:rect l="l" t="t" r="r" b="b"/>
            <a:pathLst>
              <a:path w="1349979" h="33749">
                <a:moveTo>
                  <a:pt x="0" y="0"/>
                </a:moveTo>
                <a:lnTo>
                  <a:pt x="1349979" y="0"/>
                </a:lnTo>
                <a:lnTo>
                  <a:pt x="1349979" y="33749"/>
                </a:lnTo>
                <a:lnTo>
                  <a:pt x="0" y="3374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0" scaled="1"/>
          </a:gradFill>
          <a:ln/>
        </p:spPr>
      </p:sp>
      <p:sp>
        <p:nvSpPr>
          <p:cNvPr id="8" name="Shape 5"/>
          <p:cNvSpPr/>
          <p:nvPr/>
        </p:nvSpPr>
        <p:spPr>
          <a:xfrm>
            <a:off x="341713" y="2704177"/>
            <a:ext cx="3695568" cy="1889971"/>
          </a:xfrm>
          <a:custGeom>
            <a:avLst/>
            <a:gdLst/>
            <a:ahLst/>
            <a:cxnLst/>
            <a:rect l="l" t="t" r="r" b="b"/>
            <a:pathLst>
              <a:path w="3695568" h="1889971">
                <a:moveTo>
                  <a:pt x="101246" y="0"/>
                </a:moveTo>
                <a:lnTo>
                  <a:pt x="3594322" y="0"/>
                </a:lnTo>
                <a:cubicBezTo>
                  <a:pt x="3650239" y="0"/>
                  <a:pt x="3695568" y="45329"/>
                  <a:pt x="3695568" y="101246"/>
                </a:cubicBezTo>
                <a:lnTo>
                  <a:pt x="3695568" y="1788725"/>
                </a:lnTo>
                <a:cubicBezTo>
                  <a:pt x="3695568" y="1844642"/>
                  <a:pt x="3650239" y="1889971"/>
                  <a:pt x="3594322" y="1889971"/>
                </a:cubicBezTo>
                <a:lnTo>
                  <a:pt x="101246" y="1889971"/>
                </a:lnTo>
                <a:cubicBezTo>
                  <a:pt x="45329" y="1889971"/>
                  <a:pt x="0" y="1844642"/>
                  <a:pt x="0" y="1788725"/>
                </a:cubicBezTo>
                <a:lnTo>
                  <a:pt x="0" y="101246"/>
                </a:lnTo>
                <a:cubicBezTo>
                  <a:pt x="0" y="45367"/>
                  <a:pt x="45367" y="0"/>
                  <a:pt x="101246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429" y="2910893"/>
            <a:ext cx="472493" cy="472493"/>
          </a:xfrm>
          <a:custGeom>
            <a:avLst/>
            <a:gdLst/>
            <a:ahLst/>
            <a:cxnLst/>
            <a:rect l="l" t="t" r="r" b="b"/>
            <a:pathLst>
              <a:path w="472493" h="472493">
                <a:moveTo>
                  <a:pt x="101250" y="0"/>
                </a:moveTo>
                <a:lnTo>
                  <a:pt x="371242" y="0"/>
                </a:lnTo>
                <a:cubicBezTo>
                  <a:pt x="427124" y="0"/>
                  <a:pt x="472493" y="45369"/>
                  <a:pt x="472493" y="101250"/>
                </a:cubicBezTo>
                <a:lnTo>
                  <a:pt x="472493" y="371242"/>
                </a:lnTo>
                <a:cubicBezTo>
                  <a:pt x="472493" y="427161"/>
                  <a:pt x="427161" y="472493"/>
                  <a:pt x="371242" y="472493"/>
                </a:cubicBezTo>
                <a:lnTo>
                  <a:pt x="101250" y="472493"/>
                </a:lnTo>
                <a:cubicBezTo>
                  <a:pt x="45369" y="472493"/>
                  <a:pt x="0" y="427124"/>
                  <a:pt x="0" y="371242"/>
                </a:cubicBezTo>
                <a:lnTo>
                  <a:pt x="0" y="101250"/>
                </a:lnTo>
                <a:cubicBezTo>
                  <a:pt x="0" y="45331"/>
                  <a:pt x="45331" y="0"/>
                  <a:pt x="101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2700000" scaled="1"/>
          </a:gradFill>
          <a:ln/>
        </p:spPr>
      </p:sp>
      <p:sp>
        <p:nvSpPr>
          <p:cNvPr id="10" name="Shape 7"/>
          <p:cNvSpPr/>
          <p:nvPr/>
        </p:nvSpPr>
        <p:spPr>
          <a:xfrm>
            <a:off x="683427" y="3045891"/>
            <a:ext cx="202497" cy="202497"/>
          </a:xfrm>
          <a:custGeom>
            <a:avLst/>
            <a:gdLst/>
            <a:ahLst/>
            <a:cxnLst/>
            <a:rect l="l" t="t" r="r" b="b"/>
            <a:pathLst>
              <a:path w="202497" h="202497">
                <a:moveTo>
                  <a:pt x="101248" y="0"/>
                </a:moveTo>
                <a:cubicBezTo>
                  <a:pt x="103068" y="0"/>
                  <a:pt x="104887" y="396"/>
                  <a:pt x="106548" y="1147"/>
                </a:cubicBezTo>
                <a:lnTo>
                  <a:pt x="181061" y="32748"/>
                </a:lnTo>
                <a:cubicBezTo>
                  <a:pt x="189762" y="36426"/>
                  <a:pt x="196248" y="45008"/>
                  <a:pt x="196208" y="55370"/>
                </a:cubicBezTo>
                <a:cubicBezTo>
                  <a:pt x="196011" y="94604"/>
                  <a:pt x="179874" y="166388"/>
                  <a:pt x="111729" y="199016"/>
                </a:cubicBezTo>
                <a:cubicBezTo>
                  <a:pt x="105124" y="202180"/>
                  <a:pt x="97452" y="202180"/>
                  <a:pt x="90847" y="199016"/>
                </a:cubicBezTo>
                <a:cubicBezTo>
                  <a:pt x="22662" y="166388"/>
                  <a:pt x="6565" y="94604"/>
                  <a:pt x="6368" y="55370"/>
                </a:cubicBezTo>
                <a:cubicBezTo>
                  <a:pt x="6328" y="45008"/>
                  <a:pt x="12814" y="36426"/>
                  <a:pt x="21515" y="32748"/>
                </a:cubicBezTo>
                <a:lnTo>
                  <a:pt x="95988" y="1147"/>
                </a:lnTo>
                <a:cubicBezTo>
                  <a:pt x="97649" y="396"/>
                  <a:pt x="99429" y="0"/>
                  <a:pt x="101248" y="0"/>
                </a:cubicBezTo>
                <a:close/>
                <a:moveTo>
                  <a:pt x="101248" y="26420"/>
                </a:moveTo>
                <a:lnTo>
                  <a:pt x="101248" y="175959"/>
                </a:lnTo>
                <a:cubicBezTo>
                  <a:pt x="155828" y="149539"/>
                  <a:pt x="170501" y="91005"/>
                  <a:pt x="170857" y="55963"/>
                </a:cubicBezTo>
                <a:lnTo>
                  <a:pt x="101248" y="26459"/>
                </a:lnTo>
                <a:lnTo>
                  <a:pt x="101248" y="2645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548429" y="3518383"/>
            <a:ext cx="3383385" cy="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Leakage-Free Validation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8429" y="3889628"/>
            <a:ext cx="3358073" cy="49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Forward-looking time-based approach prevents data leakage and mirrors real-world deployment.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49139" y="2704177"/>
            <a:ext cx="3695568" cy="1889971"/>
          </a:xfrm>
          <a:custGeom>
            <a:avLst/>
            <a:gdLst/>
            <a:ahLst/>
            <a:cxnLst/>
            <a:rect l="l" t="t" r="r" b="b"/>
            <a:pathLst>
              <a:path w="3695568" h="1889971">
                <a:moveTo>
                  <a:pt x="101246" y="0"/>
                </a:moveTo>
                <a:lnTo>
                  <a:pt x="3594322" y="0"/>
                </a:lnTo>
                <a:cubicBezTo>
                  <a:pt x="3650239" y="0"/>
                  <a:pt x="3695568" y="45329"/>
                  <a:pt x="3695568" y="101246"/>
                </a:cubicBezTo>
                <a:lnTo>
                  <a:pt x="3695568" y="1788725"/>
                </a:lnTo>
                <a:cubicBezTo>
                  <a:pt x="3695568" y="1844642"/>
                  <a:pt x="3650239" y="1889971"/>
                  <a:pt x="3594322" y="1889971"/>
                </a:cubicBezTo>
                <a:lnTo>
                  <a:pt x="101246" y="1889971"/>
                </a:lnTo>
                <a:cubicBezTo>
                  <a:pt x="45329" y="1889971"/>
                  <a:pt x="0" y="1844642"/>
                  <a:pt x="0" y="1788725"/>
                </a:cubicBezTo>
                <a:lnTo>
                  <a:pt x="0" y="101246"/>
                </a:lnTo>
                <a:cubicBezTo>
                  <a:pt x="0" y="45367"/>
                  <a:pt x="45367" y="0"/>
                  <a:pt x="101246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55854" y="2910893"/>
            <a:ext cx="472493" cy="472493"/>
          </a:xfrm>
          <a:custGeom>
            <a:avLst/>
            <a:gdLst/>
            <a:ahLst/>
            <a:cxnLst/>
            <a:rect l="l" t="t" r="r" b="b"/>
            <a:pathLst>
              <a:path w="472493" h="472493">
                <a:moveTo>
                  <a:pt x="101250" y="0"/>
                </a:moveTo>
                <a:lnTo>
                  <a:pt x="371242" y="0"/>
                </a:lnTo>
                <a:cubicBezTo>
                  <a:pt x="427124" y="0"/>
                  <a:pt x="472493" y="45369"/>
                  <a:pt x="472493" y="101250"/>
                </a:cubicBezTo>
                <a:lnTo>
                  <a:pt x="472493" y="371242"/>
                </a:lnTo>
                <a:cubicBezTo>
                  <a:pt x="472493" y="427161"/>
                  <a:pt x="427161" y="472493"/>
                  <a:pt x="371242" y="472493"/>
                </a:cubicBezTo>
                <a:lnTo>
                  <a:pt x="101250" y="472493"/>
                </a:lnTo>
                <a:cubicBezTo>
                  <a:pt x="45369" y="472493"/>
                  <a:pt x="0" y="427124"/>
                  <a:pt x="0" y="371242"/>
                </a:cubicBezTo>
                <a:lnTo>
                  <a:pt x="0" y="101250"/>
                </a:lnTo>
                <a:cubicBezTo>
                  <a:pt x="0" y="45331"/>
                  <a:pt x="45331" y="0"/>
                  <a:pt x="101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2700000" scaled="1"/>
          </a:gradFill>
          <a:ln/>
        </p:spPr>
      </p:sp>
      <p:sp>
        <p:nvSpPr>
          <p:cNvPr id="15" name="Shape 12"/>
          <p:cNvSpPr/>
          <p:nvPr/>
        </p:nvSpPr>
        <p:spPr>
          <a:xfrm>
            <a:off x="4616164" y="3045891"/>
            <a:ext cx="151873" cy="202497"/>
          </a:xfrm>
          <a:custGeom>
            <a:avLst/>
            <a:gdLst/>
            <a:ahLst/>
            <a:cxnLst/>
            <a:rect l="l" t="t" r="r" b="b"/>
            <a:pathLst>
              <a:path w="151873" h="202497">
                <a:moveTo>
                  <a:pt x="36109" y="113904"/>
                </a:moveTo>
                <a:lnTo>
                  <a:pt x="22346" y="113904"/>
                </a:lnTo>
                <a:cubicBezTo>
                  <a:pt x="17086" y="113904"/>
                  <a:pt x="12854" y="109673"/>
                  <a:pt x="12854" y="104412"/>
                </a:cubicBezTo>
                <a:cubicBezTo>
                  <a:pt x="12854" y="99152"/>
                  <a:pt x="17086" y="94920"/>
                  <a:pt x="22346" y="94920"/>
                </a:cubicBezTo>
                <a:lnTo>
                  <a:pt x="30810" y="94920"/>
                </a:lnTo>
                <a:cubicBezTo>
                  <a:pt x="14752" y="58257"/>
                  <a:pt x="41567" y="16611"/>
                  <a:pt x="82106" y="16611"/>
                </a:cubicBezTo>
                <a:lnTo>
                  <a:pt x="85349" y="16611"/>
                </a:lnTo>
                <a:cubicBezTo>
                  <a:pt x="98638" y="16611"/>
                  <a:pt x="111531" y="21080"/>
                  <a:pt x="121933" y="29346"/>
                </a:cubicBezTo>
                <a:lnTo>
                  <a:pt x="128301" y="34369"/>
                </a:lnTo>
                <a:cubicBezTo>
                  <a:pt x="133798" y="38720"/>
                  <a:pt x="134708" y="46669"/>
                  <a:pt x="130357" y="52167"/>
                </a:cubicBezTo>
                <a:cubicBezTo>
                  <a:pt x="126007" y="57664"/>
                  <a:pt x="118057" y="58574"/>
                  <a:pt x="112560" y="54223"/>
                </a:cubicBezTo>
                <a:lnTo>
                  <a:pt x="106192" y="49200"/>
                </a:lnTo>
                <a:cubicBezTo>
                  <a:pt x="100260" y="44494"/>
                  <a:pt x="92903" y="41923"/>
                  <a:pt x="85310" y="41923"/>
                </a:cubicBezTo>
                <a:lnTo>
                  <a:pt x="82067" y="41923"/>
                </a:lnTo>
                <a:cubicBezTo>
                  <a:pt x="59404" y="41923"/>
                  <a:pt x="44613" y="65614"/>
                  <a:pt x="54500" y="85982"/>
                </a:cubicBezTo>
                <a:cubicBezTo>
                  <a:pt x="55924" y="88909"/>
                  <a:pt x="57110" y="91875"/>
                  <a:pt x="58099" y="94920"/>
                </a:cubicBezTo>
                <a:lnTo>
                  <a:pt x="117227" y="94920"/>
                </a:lnTo>
                <a:cubicBezTo>
                  <a:pt x="122487" y="94920"/>
                  <a:pt x="126719" y="99152"/>
                  <a:pt x="126719" y="104412"/>
                </a:cubicBezTo>
                <a:cubicBezTo>
                  <a:pt x="126719" y="109673"/>
                  <a:pt x="122487" y="113904"/>
                  <a:pt x="117227" y="113904"/>
                </a:cubicBezTo>
                <a:lnTo>
                  <a:pt x="61382" y="113904"/>
                </a:lnTo>
                <a:cubicBezTo>
                  <a:pt x="61777" y="127866"/>
                  <a:pt x="57941" y="141827"/>
                  <a:pt x="49952" y="153811"/>
                </a:cubicBezTo>
                <a:lnTo>
                  <a:pt x="42793" y="164529"/>
                </a:lnTo>
                <a:lnTo>
                  <a:pt x="126719" y="164529"/>
                </a:lnTo>
                <a:cubicBezTo>
                  <a:pt x="133719" y="164529"/>
                  <a:pt x="139375" y="170184"/>
                  <a:pt x="139375" y="177185"/>
                </a:cubicBezTo>
                <a:cubicBezTo>
                  <a:pt x="139375" y="184185"/>
                  <a:pt x="133719" y="189841"/>
                  <a:pt x="126719" y="189841"/>
                </a:cubicBezTo>
                <a:lnTo>
                  <a:pt x="19142" y="189841"/>
                </a:lnTo>
                <a:cubicBezTo>
                  <a:pt x="14475" y="189841"/>
                  <a:pt x="10204" y="187270"/>
                  <a:pt x="7989" y="183157"/>
                </a:cubicBezTo>
                <a:cubicBezTo>
                  <a:pt x="5774" y="179044"/>
                  <a:pt x="6012" y="174060"/>
                  <a:pt x="8622" y="170145"/>
                </a:cubicBezTo>
                <a:lnTo>
                  <a:pt x="28872" y="139770"/>
                </a:lnTo>
                <a:cubicBezTo>
                  <a:pt x="34053" y="132018"/>
                  <a:pt x="36465" y="122922"/>
                  <a:pt x="36070" y="11390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4455854" y="3518383"/>
            <a:ext cx="3383385" cy="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Outcomes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55854" y="3889628"/>
            <a:ext cx="3358073" cy="49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Connects ML predictions directly to revenue impact and retention ROI optimization.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156564" y="2704177"/>
            <a:ext cx="3695568" cy="1889971"/>
          </a:xfrm>
          <a:custGeom>
            <a:avLst/>
            <a:gdLst/>
            <a:ahLst/>
            <a:cxnLst/>
            <a:rect l="l" t="t" r="r" b="b"/>
            <a:pathLst>
              <a:path w="3695568" h="1889971">
                <a:moveTo>
                  <a:pt x="101246" y="0"/>
                </a:moveTo>
                <a:lnTo>
                  <a:pt x="3594322" y="0"/>
                </a:lnTo>
                <a:cubicBezTo>
                  <a:pt x="3650239" y="0"/>
                  <a:pt x="3695568" y="45329"/>
                  <a:pt x="3695568" y="101246"/>
                </a:cubicBezTo>
                <a:lnTo>
                  <a:pt x="3695568" y="1788725"/>
                </a:lnTo>
                <a:cubicBezTo>
                  <a:pt x="3695568" y="1844642"/>
                  <a:pt x="3650239" y="1889971"/>
                  <a:pt x="3594322" y="1889971"/>
                </a:cubicBezTo>
                <a:lnTo>
                  <a:pt x="101246" y="1889971"/>
                </a:lnTo>
                <a:cubicBezTo>
                  <a:pt x="45329" y="1889971"/>
                  <a:pt x="0" y="1844642"/>
                  <a:pt x="0" y="1788725"/>
                </a:cubicBezTo>
                <a:lnTo>
                  <a:pt x="0" y="101246"/>
                </a:lnTo>
                <a:cubicBezTo>
                  <a:pt x="0" y="45367"/>
                  <a:pt x="45367" y="0"/>
                  <a:pt x="101246" y="0"/>
                </a:cubicBezTo>
                <a:close/>
              </a:path>
            </a:pathLst>
          </a:custGeom>
          <a:solidFill>
            <a:srgbClr val="4A6C82">
              <a:alpha val="10196"/>
            </a:srgbClr>
          </a:solidFill>
          <a:ln w="12700">
            <a:solidFill>
              <a:srgbClr val="4A6C82">
                <a:alpha val="3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63280" y="2910893"/>
            <a:ext cx="472493" cy="472493"/>
          </a:xfrm>
          <a:custGeom>
            <a:avLst/>
            <a:gdLst/>
            <a:ahLst/>
            <a:cxnLst/>
            <a:rect l="l" t="t" r="r" b="b"/>
            <a:pathLst>
              <a:path w="472493" h="472493">
                <a:moveTo>
                  <a:pt x="101250" y="0"/>
                </a:moveTo>
                <a:lnTo>
                  <a:pt x="371242" y="0"/>
                </a:lnTo>
                <a:cubicBezTo>
                  <a:pt x="427124" y="0"/>
                  <a:pt x="472493" y="45369"/>
                  <a:pt x="472493" y="101250"/>
                </a:cubicBezTo>
                <a:lnTo>
                  <a:pt x="472493" y="371242"/>
                </a:lnTo>
                <a:cubicBezTo>
                  <a:pt x="472493" y="427161"/>
                  <a:pt x="427161" y="472493"/>
                  <a:pt x="371242" y="472493"/>
                </a:cubicBezTo>
                <a:lnTo>
                  <a:pt x="101250" y="472493"/>
                </a:lnTo>
                <a:cubicBezTo>
                  <a:pt x="45369" y="472493"/>
                  <a:pt x="0" y="427124"/>
                  <a:pt x="0" y="371242"/>
                </a:cubicBezTo>
                <a:lnTo>
                  <a:pt x="0" y="101250"/>
                </a:lnTo>
                <a:cubicBezTo>
                  <a:pt x="0" y="45331"/>
                  <a:pt x="45331" y="0"/>
                  <a:pt x="101250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/>
              </a:gs>
              <a:gs pos="100000">
                <a:srgbClr val="4A6C82"/>
              </a:gs>
            </a:gsLst>
            <a:lin ang="2700000" scaled="1"/>
          </a:gradFill>
          <a:ln/>
        </p:spPr>
      </p:sp>
      <p:sp>
        <p:nvSpPr>
          <p:cNvPr id="20" name="Shape 17"/>
          <p:cNvSpPr/>
          <p:nvPr/>
        </p:nvSpPr>
        <p:spPr>
          <a:xfrm>
            <a:off x="8498278" y="3045891"/>
            <a:ext cx="202497" cy="202497"/>
          </a:xfrm>
          <a:custGeom>
            <a:avLst/>
            <a:gdLst/>
            <a:ahLst/>
            <a:cxnLst/>
            <a:rect l="l" t="t" r="r" b="b"/>
            <a:pathLst>
              <a:path w="202497" h="202497">
                <a:moveTo>
                  <a:pt x="25312" y="25312"/>
                </a:moveTo>
                <a:cubicBezTo>
                  <a:pt x="25312" y="18312"/>
                  <a:pt x="19656" y="12656"/>
                  <a:pt x="12656" y="12656"/>
                </a:cubicBezTo>
                <a:cubicBezTo>
                  <a:pt x="5656" y="12656"/>
                  <a:pt x="0" y="18312"/>
                  <a:pt x="0" y="25312"/>
                </a:cubicBezTo>
                <a:lnTo>
                  <a:pt x="0" y="158201"/>
                </a:lnTo>
                <a:cubicBezTo>
                  <a:pt x="0" y="175682"/>
                  <a:pt x="14159" y="189841"/>
                  <a:pt x="31640" y="189841"/>
                </a:cubicBezTo>
                <a:lnTo>
                  <a:pt x="189841" y="189841"/>
                </a:lnTo>
                <a:cubicBezTo>
                  <a:pt x="196841" y="189841"/>
                  <a:pt x="202497" y="184185"/>
                  <a:pt x="202497" y="177185"/>
                </a:cubicBezTo>
                <a:cubicBezTo>
                  <a:pt x="202497" y="170184"/>
                  <a:pt x="196841" y="164529"/>
                  <a:pt x="189841" y="164529"/>
                </a:cubicBezTo>
                <a:lnTo>
                  <a:pt x="31640" y="164529"/>
                </a:lnTo>
                <a:cubicBezTo>
                  <a:pt x="28160" y="164529"/>
                  <a:pt x="25312" y="161681"/>
                  <a:pt x="25312" y="158201"/>
                </a:cubicBezTo>
                <a:lnTo>
                  <a:pt x="25312" y="25312"/>
                </a:lnTo>
                <a:close/>
                <a:moveTo>
                  <a:pt x="186123" y="59563"/>
                </a:moveTo>
                <a:cubicBezTo>
                  <a:pt x="191067" y="54619"/>
                  <a:pt x="191067" y="46590"/>
                  <a:pt x="186123" y="41646"/>
                </a:cubicBezTo>
                <a:cubicBezTo>
                  <a:pt x="181179" y="36703"/>
                  <a:pt x="173151" y="36703"/>
                  <a:pt x="168207" y="41646"/>
                </a:cubicBezTo>
                <a:lnTo>
                  <a:pt x="126561" y="83332"/>
                </a:lnTo>
                <a:lnTo>
                  <a:pt x="103859" y="60670"/>
                </a:lnTo>
                <a:cubicBezTo>
                  <a:pt x="98915" y="55726"/>
                  <a:pt x="90886" y="55726"/>
                  <a:pt x="85943" y="60670"/>
                </a:cubicBezTo>
                <a:lnTo>
                  <a:pt x="47974" y="98638"/>
                </a:lnTo>
                <a:cubicBezTo>
                  <a:pt x="43031" y="103582"/>
                  <a:pt x="43031" y="111611"/>
                  <a:pt x="47974" y="116554"/>
                </a:cubicBezTo>
                <a:cubicBezTo>
                  <a:pt x="52918" y="121498"/>
                  <a:pt x="60947" y="121498"/>
                  <a:pt x="65891" y="116554"/>
                </a:cubicBezTo>
                <a:lnTo>
                  <a:pt x="94920" y="87525"/>
                </a:lnTo>
                <a:lnTo>
                  <a:pt x="117622" y="110226"/>
                </a:lnTo>
                <a:cubicBezTo>
                  <a:pt x="122566" y="115170"/>
                  <a:pt x="130595" y="115170"/>
                  <a:pt x="135538" y="110226"/>
                </a:cubicBezTo>
                <a:lnTo>
                  <a:pt x="186163" y="5960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8363280" y="3518383"/>
            <a:ext cx="3383385" cy="269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94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Profitability Focus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363280" y="3889628"/>
            <a:ext cx="3358073" cy="49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Revenue-weighted targeting achieves 7.6x ROI vs negative ROI with probability-only approach.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41713" y="4868363"/>
            <a:ext cx="11508573" cy="1738098"/>
          </a:xfrm>
          <a:custGeom>
            <a:avLst/>
            <a:gdLst/>
            <a:ahLst/>
            <a:cxnLst/>
            <a:rect l="l" t="t" r="r" b="b"/>
            <a:pathLst>
              <a:path w="11508573" h="1738098">
                <a:moveTo>
                  <a:pt x="101244" y="0"/>
                </a:moveTo>
                <a:lnTo>
                  <a:pt x="11407329" y="0"/>
                </a:lnTo>
                <a:cubicBezTo>
                  <a:pt x="11463244" y="0"/>
                  <a:pt x="11508573" y="45329"/>
                  <a:pt x="11508573" y="101244"/>
                </a:cubicBezTo>
                <a:lnTo>
                  <a:pt x="11508573" y="1636854"/>
                </a:lnTo>
                <a:cubicBezTo>
                  <a:pt x="11508573" y="1692770"/>
                  <a:pt x="11463244" y="1738098"/>
                  <a:pt x="11407329" y="1738098"/>
                </a:cubicBezTo>
                <a:lnTo>
                  <a:pt x="101244" y="1738098"/>
                </a:lnTo>
                <a:cubicBezTo>
                  <a:pt x="45329" y="1738098"/>
                  <a:pt x="0" y="1692770"/>
                  <a:pt x="0" y="1636854"/>
                </a:cubicBezTo>
                <a:lnTo>
                  <a:pt x="0" y="101244"/>
                </a:lnTo>
                <a:cubicBezTo>
                  <a:pt x="0" y="45329"/>
                  <a:pt x="45329" y="0"/>
                  <a:pt x="101244" y="0"/>
                </a:cubicBezTo>
                <a:close/>
              </a:path>
            </a:pathLst>
          </a:custGeom>
          <a:gradFill flip="none" rotWithShape="1">
            <a:gsLst>
              <a:gs pos="0">
                <a:srgbClr val="5E8B7E">
                  <a:alpha val="20000"/>
                </a:srgbClr>
              </a:gs>
              <a:gs pos="100000">
                <a:srgbClr val="4A6C82">
                  <a:alpha val="10000"/>
                </a:srgbClr>
              </a:gs>
            </a:gsLst>
            <a:lin ang="0" scaled="1"/>
          </a:gradFill>
          <a:ln w="12700">
            <a:solidFill>
              <a:srgbClr val="5E8B7E">
                <a:alpha val="30196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67413" y="5108828"/>
            <a:ext cx="341713" cy="303745"/>
          </a:xfrm>
          <a:custGeom>
            <a:avLst/>
            <a:gdLst/>
            <a:ahLst/>
            <a:cxnLst/>
            <a:rect l="l" t="t" r="r" b="b"/>
            <a:pathLst>
              <a:path w="341713" h="303745">
                <a:moveTo>
                  <a:pt x="183612" y="-11212"/>
                </a:moveTo>
                <a:cubicBezTo>
                  <a:pt x="181179" y="-15958"/>
                  <a:pt x="176255" y="-18984"/>
                  <a:pt x="170916" y="-18984"/>
                </a:cubicBezTo>
                <a:cubicBezTo>
                  <a:pt x="165577" y="-18984"/>
                  <a:pt x="160653" y="-15958"/>
                  <a:pt x="158220" y="-11212"/>
                </a:cubicBezTo>
                <a:lnTo>
                  <a:pt x="114557" y="74335"/>
                </a:lnTo>
                <a:lnTo>
                  <a:pt x="19696" y="89403"/>
                </a:lnTo>
                <a:cubicBezTo>
                  <a:pt x="14416" y="90234"/>
                  <a:pt x="10026" y="93971"/>
                  <a:pt x="8365" y="99073"/>
                </a:cubicBezTo>
                <a:cubicBezTo>
                  <a:pt x="6704" y="104175"/>
                  <a:pt x="8068" y="109752"/>
                  <a:pt x="11806" y="113549"/>
                </a:cubicBezTo>
                <a:lnTo>
                  <a:pt x="79674" y="181476"/>
                </a:lnTo>
                <a:lnTo>
                  <a:pt x="64724" y="276337"/>
                </a:lnTo>
                <a:cubicBezTo>
                  <a:pt x="63893" y="281617"/>
                  <a:pt x="66088" y="286956"/>
                  <a:pt x="70419" y="290101"/>
                </a:cubicBezTo>
                <a:cubicBezTo>
                  <a:pt x="74750" y="293245"/>
                  <a:pt x="80445" y="293719"/>
                  <a:pt x="85250" y="291287"/>
                </a:cubicBezTo>
                <a:lnTo>
                  <a:pt x="170916" y="247742"/>
                </a:lnTo>
                <a:lnTo>
                  <a:pt x="256522" y="291287"/>
                </a:lnTo>
                <a:cubicBezTo>
                  <a:pt x="261268" y="293719"/>
                  <a:pt x="267023" y="293245"/>
                  <a:pt x="271354" y="290101"/>
                </a:cubicBezTo>
                <a:cubicBezTo>
                  <a:pt x="275684" y="286956"/>
                  <a:pt x="277880" y="281676"/>
                  <a:pt x="277049" y="276337"/>
                </a:cubicBezTo>
                <a:lnTo>
                  <a:pt x="262040" y="181476"/>
                </a:lnTo>
                <a:lnTo>
                  <a:pt x="329908" y="113549"/>
                </a:lnTo>
                <a:cubicBezTo>
                  <a:pt x="333705" y="109752"/>
                  <a:pt x="335010" y="104175"/>
                  <a:pt x="333349" y="99073"/>
                </a:cubicBezTo>
                <a:cubicBezTo>
                  <a:pt x="331688" y="93971"/>
                  <a:pt x="327357" y="90234"/>
                  <a:pt x="322018" y="89403"/>
                </a:cubicBezTo>
                <a:lnTo>
                  <a:pt x="227216" y="74335"/>
                </a:lnTo>
                <a:lnTo>
                  <a:pt x="183612" y="-11212"/>
                </a:ln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5" name="Text 22"/>
          <p:cNvSpPr/>
          <p:nvPr/>
        </p:nvSpPr>
        <p:spPr>
          <a:xfrm>
            <a:off x="1096858" y="5075078"/>
            <a:ext cx="10673273" cy="3037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93" b="1" dirty="0">
                <a:solidFill>
                  <a:srgbClr val="EDF2F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Project Stands Out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096858" y="5480072"/>
            <a:ext cx="10631087" cy="548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churn projects </a:t>
            </a:r>
            <a:r>
              <a:rPr lang="en-US" sz="132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stop at accuracy metrics</a:t>
            </a:r>
            <a:r>
              <a:rPr lang="en-US" sz="132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This project demonstrates both </a:t>
            </a:r>
            <a:r>
              <a:rPr lang="en-US" sz="1329" b="1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depth and strategic thinking</a:t>
            </a:r>
            <a:r>
              <a:rPr lang="en-US" sz="1329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connecting ML outputs to business value.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117952" y="6197248"/>
            <a:ext cx="168747" cy="168747"/>
          </a:xfrm>
          <a:custGeom>
            <a:avLst/>
            <a:gdLst/>
            <a:ahLst/>
            <a:cxnLst/>
            <a:rect l="l" t="t" r="r" b="b"/>
            <a:pathLst>
              <a:path w="168747" h="168747">
                <a:moveTo>
                  <a:pt x="84374" y="168747"/>
                </a:moveTo>
                <a:cubicBezTo>
                  <a:pt x="130941" y="168747"/>
                  <a:pt x="168747" y="130941"/>
                  <a:pt x="168747" y="84374"/>
                </a:cubicBezTo>
                <a:cubicBezTo>
                  <a:pt x="168747" y="37807"/>
                  <a:pt x="130941" y="0"/>
                  <a:pt x="84374" y="0"/>
                </a:cubicBezTo>
                <a:cubicBezTo>
                  <a:pt x="37807" y="0"/>
                  <a:pt x="0" y="37807"/>
                  <a:pt x="0" y="84374"/>
                </a:cubicBezTo>
                <a:cubicBezTo>
                  <a:pt x="0" y="130941"/>
                  <a:pt x="37807" y="168747"/>
                  <a:pt x="84374" y="168747"/>
                </a:cubicBezTo>
                <a:close/>
                <a:moveTo>
                  <a:pt x="112191" y="70103"/>
                </a:moveTo>
                <a:lnTo>
                  <a:pt x="85824" y="112290"/>
                </a:lnTo>
                <a:cubicBezTo>
                  <a:pt x="84440" y="114498"/>
                  <a:pt x="82067" y="115882"/>
                  <a:pt x="79463" y="116014"/>
                </a:cubicBezTo>
                <a:cubicBezTo>
                  <a:pt x="76859" y="116146"/>
                  <a:pt x="74354" y="114959"/>
                  <a:pt x="72805" y="112850"/>
                </a:cubicBezTo>
                <a:lnTo>
                  <a:pt x="56985" y="91756"/>
                </a:lnTo>
                <a:cubicBezTo>
                  <a:pt x="54349" y="88263"/>
                  <a:pt x="55074" y="83319"/>
                  <a:pt x="58567" y="80682"/>
                </a:cubicBezTo>
                <a:cubicBezTo>
                  <a:pt x="62061" y="78046"/>
                  <a:pt x="67005" y="78771"/>
                  <a:pt x="69641" y="82264"/>
                </a:cubicBezTo>
                <a:lnTo>
                  <a:pt x="78540" y="94129"/>
                </a:lnTo>
                <a:lnTo>
                  <a:pt x="98777" y="61731"/>
                </a:lnTo>
                <a:cubicBezTo>
                  <a:pt x="101084" y="58040"/>
                  <a:pt x="105962" y="56886"/>
                  <a:pt x="109686" y="59226"/>
                </a:cubicBezTo>
                <a:cubicBezTo>
                  <a:pt x="113410" y="61566"/>
                  <a:pt x="114531" y="66411"/>
                  <a:pt x="112191" y="7013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28" name="Text 25"/>
          <p:cNvSpPr/>
          <p:nvPr/>
        </p:nvSpPr>
        <p:spPr>
          <a:xfrm>
            <a:off x="1375291" y="6163499"/>
            <a:ext cx="1434353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Excellence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2959408" y="6197248"/>
            <a:ext cx="168747" cy="168747"/>
          </a:xfrm>
          <a:custGeom>
            <a:avLst/>
            <a:gdLst/>
            <a:ahLst/>
            <a:cxnLst/>
            <a:rect l="l" t="t" r="r" b="b"/>
            <a:pathLst>
              <a:path w="168747" h="168747">
                <a:moveTo>
                  <a:pt x="84374" y="168747"/>
                </a:moveTo>
                <a:cubicBezTo>
                  <a:pt x="130941" y="168747"/>
                  <a:pt x="168747" y="130941"/>
                  <a:pt x="168747" y="84374"/>
                </a:cubicBezTo>
                <a:cubicBezTo>
                  <a:pt x="168747" y="37807"/>
                  <a:pt x="130941" y="0"/>
                  <a:pt x="84374" y="0"/>
                </a:cubicBezTo>
                <a:cubicBezTo>
                  <a:pt x="37807" y="0"/>
                  <a:pt x="0" y="37807"/>
                  <a:pt x="0" y="84374"/>
                </a:cubicBezTo>
                <a:cubicBezTo>
                  <a:pt x="0" y="130941"/>
                  <a:pt x="37807" y="168747"/>
                  <a:pt x="84374" y="168747"/>
                </a:cubicBezTo>
                <a:close/>
                <a:moveTo>
                  <a:pt x="112191" y="70103"/>
                </a:moveTo>
                <a:lnTo>
                  <a:pt x="85824" y="112290"/>
                </a:lnTo>
                <a:cubicBezTo>
                  <a:pt x="84440" y="114498"/>
                  <a:pt x="82067" y="115882"/>
                  <a:pt x="79463" y="116014"/>
                </a:cubicBezTo>
                <a:cubicBezTo>
                  <a:pt x="76859" y="116146"/>
                  <a:pt x="74354" y="114959"/>
                  <a:pt x="72805" y="112850"/>
                </a:cubicBezTo>
                <a:lnTo>
                  <a:pt x="56985" y="91756"/>
                </a:lnTo>
                <a:cubicBezTo>
                  <a:pt x="54349" y="88263"/>
                  <a:pt x="55074" y="83319"/>
                  <a:pt x="58567" y="80682"/>
                </a:cubicBezTo>
                <a:cubicBezTo>
                  <a:pt x="62061" y="78046"/>
                  <a:pt x="67005" y="78771"/>
                  <a:pt x="69641" y="82264"/>
                </a:cubicBezTo>
                <a:lnTo>
                  <a:pt x="78540" y="94129"/>
                </a:lnTo>
                <a:lnTo>
                  <a:pt x="98777" y="61731"/>
                </a:lnTo>
                <a:cubicBezTo>
                  <a:pt x="101084" y="58040"/>
                  <a:pt x="105962" y="56886"/>
                  <a:pt x="109686" y="59226"/>
                </a:cubicBezTo>
                <a:cubicBezTo>
                  <a:pt x="113410" y="61566"/>
                  <a:pt x="114531" y="66411"/>
                  <a:pt x="112191" y="7013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0" name="Text 27"/>
          <p:cNvSpPr/>
          <p:nvPr/>
        </p:nvSpPr>
        <p:spPr>
          <a:xfrm>
            <a:off x="3216747" y="6163499"/>
            <a:ext cx="1139045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500019" y="6197248"/>
            <a:ext cx="168747" cy="168747"/>
          </a:xfrm>
          <a:custGeom>
            <a:avLst/>
            <a:gdLst/>
            <a:ahLst/>
            <a:cxnLst/>
            <a:rect l="l" t="t" r="r" b="b"/>
            <a:pathLst>
              <a:path w="168747" h="168747">
                <a:moveTo>
                  <a:pt x="84374" y="168747"/>
                </a:moveTo>
                <a:cubicBezTo>
                  <a:pt x="130941" y="168747"/>
                  <a:pt x="168747" y="130941"/>
                  <a:pt x="168747" y="84374"/>
                </a:cubicBezTo>
                <a:cubicBezTo>
                  <a:pt x="168747" y="37807"/>
                  <a:pt x="130941" y="0"/>
                  <a:pt x="84374" y="0"/>
                </a:cubicBezTo>
                <a:cubicBezTo>
                  <a:pt x="37807" y="0"/>
                  <a:pt x="0" y="37807"/>
                  <a:pt x="0" y="84374"/>
                </a:cubicBezTo>
                <a:cubicBezTo>
                  <a:pt x="0" y="130941"/>
                  <a:pt x="37807" y="168747"/>
                  <a:pt x="84374" y="168747"/>
                </a:cubicBezTo>
                <a:close/>
                <a:moveTo>
                  <a:pt x="112191" y="70103"/>
                </a:moveTo>
                <a:lnTo>
                  <a:pt x="85824" y="112290"/>
                </a:lnTo>
                <a:cubicBezTo>
                  <a:pt x="84440" y="114498"/>
                  <a:pt x="82067" y="115882"/>
                  <a:pt x="79463" y="116014"/>
                </a:cubicBezTo>
                <a:cubicBezTo>
                  <a:pt x="76859" y="116146"/>
                  <a:pt x="74354" y="114959"/>
                  <a:pt x="72805" y="112850"/>
                </a:cubicBezTo>
                <a:lnTo>
                  <a:pt x="56985" y="91756"/>
                </a:lnTo>
                <a:cubicBezTo>
                  <a:pt x="54349" y="88263"/>
                  <a:pt x="55074" y="83319"/>
                  <a:pt x="58567" y="80682"/>
                </a:cubicBezTo>
                <a:cubicBezTo>
                  <a:pt x="62061" y="78046"/>
                  <a:pt x="67005" y="78771"/>
                  <a:pt x="69641" y="82264"/>
                </a:cubicBezTo>
                <a:lnTo>
                  <a:pt x="78540" y="94129"/>
                </a:lnTo>
                <a:lnTo>
                  <a:pt x="98777" y="61731"/>
                </a:lnTo>
                <a:cubicBezTo>
                  <a:pt x="101084" y="58040"/>
                  <a:pt x="105962" y="56886"/>
                  <a:pt x="109686" y="59226"/>
                </a:cubicBezTo>
                <a:cubicBezTo>
                  <a:pt x="113410" y="61566"/>
                  <a:pt x="114531" y="66411"/>
                  <a:pt x="112191" y="70136"/>
                </a:cubicBezTo>
                <a:close/>
              </a:path>
            </a:pathLst>
          </a:custGeom>
          <a:solidFill>
            <a:srgbClr val="5E8B7E"/>
          </a:solidFill>
          <a:ln/>
        </p:spPr>
      </p:sp>
      <p:sp>
        <p:nvSpPr>
          <p:cNvPr id="32" name="Text 29"/>
          <p:cNvSpPr/>
          <p:nvPr/>
        </p:nvSpPr>
        <p:spPr>
          <a:xfrm>
            <a:off x="4757358" y="6163499"/>
            <a:ext cx="1054671" cy="236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EDF2F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Value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927</Words>
  <Application>Microsoft Office PowerPoint</Application>
  <PresentationFormat>Widescreen</PresentationFormat>
  <Paragraphs>256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Quattrocento Sans</vt:lpstr>
      <vt:lpstr>Liter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Customer Churn Prediction</dc:title>
  <dc:subject>Retail Customer Churn Prediction</dc:subject>
  <dc:creator>Kimi</dc:creator>
  <cp:lastModifiedBy>Aparajito PauL</cp:lastModifiedBy>
  <cp:revision>2</cp:revision>
  <dcterms:created xsi:type="dcterms:W3CDTF">2026-03-02T16:09:23Z</dcterms:created>
  <dcterms:modified xsi:type="dcterms:W3CDTF">2026-03-03T07:26:35Z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{"Label":"Retail Customer Churn Prediction","ContentProducer":"001191110108MACG2KBH8F10000","ProduceID":"19caf442-1532-8f40-8000-0000caea37da","ReservedCode1":"","ContentPropagator":"001191110108MACG2KBH8F20000","PropagateID":"19caf442-1532-8f40-8000-0000caea37da","ReservedCode2":""}</vt:lpwstr>
  </property>
</Properties>
</file>